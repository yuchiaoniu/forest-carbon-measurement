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8E09A"/>
                </a:solidFill>
              </a:rPr>
              <a:t>國立台東大學　資訊管理學系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A878"/>
                </a:solidFill>
              </a:rPr>
              <a:t>Department of Information Management, NTTU　　畢業專題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005840"/>
            <a:ext cx="9418320" cy="36576"/>
          </a:xfrm>
          <a:prstGeom prst="rect">
            <a:avLst/>
          </a:prstGeom>
          <a:solidFill>
            <a:srgbClr val="7EC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7EC85A"/>
                </a:solidFill>
              </a:rPr>
              <a:t>植樹碳紀錄管理平台：整合 AI 量測與區塊鏈存證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84831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B8E09A"/>
                </a:solidFill>
              </a:rPr>
              <a:t>——以 SDG 15（陸域生命）永續林地管理與植樹造林為導向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529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F5E0"/>
                </a:solidFill>
              </a:rPr>
              <a:t>Tree Planting Carbon Record Management Platform: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7355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F5E0"/>
                </a:solidFill>
              </a:rPr>
              <a:t>Integrating AI Measurement and Blockchain Notarization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75887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8A878"/>
                </a:solidFill>
              </a:rPr>
              <a:t>— Oriented to SDG 15 (Life on Land) Sustainable Forest Management and Afforestation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224528"/>
            <a:ext cx="9418320" cy="36576"/>
          </a:xfrm>
          <a:prstGeom prst="rect">
            <a:avLst/>
          </a:prstGeom>
          <a:solidFill>
            <a:srgbClr val="7EC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407408"/>
            <a:ext cx="12188952" cy="2450592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6177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8F5E0"/>
                </a:solidFill>
              </a:rPr>
              <a:t>專題學生：陳冠名　　張子俊　　牛禹喬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3892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8F5E0"/>
                </a:solidFill>
              </a:rPr>
              <a:t>指導教授：謝明哲　博士　　Advisor: Ming-Che Hsieh, Ph.D.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15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A878"/>
                </a:solidFill>
              </a:rPr>
              <a:t>中華民國 116 年 7 月　　July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大綱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F5E0"/>
                </a:solidFill>
              </a:rPr>
              <a:t>• ① 研究動機（Slides 3–7）：為什麼要做這個研究？（含臺灣困境與申請失敗矩陣）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7335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F5E0"/>
                </a:solidFill>
              </a:rPr>
              <a:t>• ② 研究設計（Slides 8–11）：研究問題、DSRM 方法論、五章架構、自洽機制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03704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F5E0"/>
                </a:solidFill>
              </a:rPr>
              <a:t>• ③ 文獻回顧（Slide 12）：現有方法的缺口與本研究定位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34056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F5E0"/>
                </a:solidFill>
              </a:rPr>
              <a:t>• ④ 系統架構（Slides 13–16）：三條路徑、Ground Truth、五種前處理流程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6440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F5E0"/>
                </a:solidFill>
              </a:rPr>
              <a:t>• ⑤ 核心機制（Slides 17–21）：動態修正因子（CF）機制設計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F5E0"/>
                </a:solidFill>
              </a:rPr>
              <a:t>• ⑥ 精度驗證（Slides 22–26）：MAE、MAPE、Bootstrap、Hevner、流程比較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2511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F5E0"/>
                </a:solidFill>
              </a:rPr>
              <a:t>• ⑦ 統計分析（Slides 27–31）：LMM、ICC、論證鏈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55464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F5E0"/>
                </a:solidFill>
              </a:rPr>
              <a:t>• ⑧ Verra 合規（Slides 32–34）：VM0047 §8.4 驗算、區塊鏈存證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85816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F5E0"/>
                </a:solidFill>
              </a:rPr>
              <a:t>• ⑨ 植樹造林實作（Slide 35）：SDG 15 對應模組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1616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F5E0"/>
                </a:solidFill>
              </a:rPr>
              <a:t>• ⑩ 結論（Slides 36–41）：核心貢獻、研究成果、Hevner 七項準則、未來方向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森林是氣候行動最重要的夥伴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研究動機 1／3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F5E0"/>
                </a:solidFill>
              </a:rPr>
              <a:t>• 全球碳中和目標需要可信、持續的碳儲量資料作為科學基礎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01952"/>
            <a:ext cx="10789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F5E0"/>
                </a:solidFill>
              </a:rPr>
              <a:t>• 森林覆蓋地球 30% 陸地面積，是最大的陸域碳匯之一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15184"/>
            <a:ext cx="10789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F5E0"/>
                </a:solidFill>
              </a:rPr>
              <a:t>• 要讓森林碳匯進入碳權市場，需符合國際標準的精確量測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28416"/>
            <a:ext cx="10789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F5E0"/>
                </a:solidFill>
              </a:rPr>
              <a:t>• 量測品質直接決定碳權的公信力與市場價值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541264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C040"/>
                </a:solidFill>
              </a:rPr>
              <a:t>💡  碳儲量數據是綠色金融的地基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臺灣的困境：政治地位造成的認證障礙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研究動機 2／4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440680" cy="356616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C040"/>
                </a:solidFill>
              </a:rPr>
              <a:t>🚫  結構性障礙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64792"/>
            <a:ext cx="5029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0"/>
                </a:solidFill>
              </a:rPr>
              <a:t>• 臺灣非聯合國會員，無法簽署《巴黎協定》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86584"/>
            <a:ext cx="5029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0"/>
                </a:solidFill>
              </a:rPr>
              <a:t>• 政府無國家自定貢獻（NDC），無法對接官方國際碳市場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08376"/>
            <a:ext cx="5029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0"/>
                </a:solidFill>
              </a:rPr>
              <a:t>• 環境部僅核可「新植造林」一種方法學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30168"/>
            <a:ext cx="5029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0"/>
                </a:solidFill>
              </a:rPr>
              <a:t>• 至今從未有企業完成林業碳匯抵換申請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143000"/>
            <a:ext cx="5440680" cy="356616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EC85A"/>
                </a:solidFill>
              </a:rPr>
              <a:t>✅  有效出路：Verra 自願性碳市場（VM0047）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64792"/>
            <a:ext cx="5029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0"/>
                </a:solidFill>
              </a:rPr>
              <a:t>• Verra VCS 不要求地主國政府同意函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386584"/>
            <a:ext cx="5029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0"/>
                </a:solidFill>
              </a:rPr>
              <a:t>• 臺灣政治地位不構成申請技術障礙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008376"/>
            <a:ext cx="5029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0"/>
                </a:solidFill>
              </a:rPr>
              <a:t>• SGS／DNV GL 等 6 家驗證機構已在臺灣設點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630168"/>
            <a:ext cx="5029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0"/>
                </a:solidFill>
              </a:rPr>
              <a:t>• 臺灣碳交所 2023 年起可交易 Verra VCU 碳權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251960"/>
            <a:ext cx="5029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0"/>
                </a:solidFill>
              </a:rPr>
              <a:t>• 但：至今無任何企業完成申請，缺口明確存在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6517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0C040"/>
                </a:solidFill>
              </a:rPr>
              <a:t>VS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92040"/>
            <a:ext cx="11430000" cy="749808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00176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EC85A"/>
                </a:solidFill>
              </a:rPr>
              <a:t>本研究填補的缺口：低成本精準量測 + 區塊鏈存證 → 讓臺灣林地具備進入 Verra 申請流程的完整技術條件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833872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A878"/>
                </a:solidFill>
              </a:rPr>
              <a:t>資料來源：Verra VCS FAQ（verra.org）  ｜  環境部查驗機構清單（ghgregistry.moenv.gov.tw）  ｜  ESG 遠見（esg.gvm.com.tw/article/10903）  ｜  Verra 驗證機構（verra.org/validation-verification/）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為什麼之前的申請都沒成功？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研究動機 2b／4　—　問題 × 回應矩陣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623560" cy="91440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4406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申請未通過的根本原因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143000"/>
            <a:ext cx="5623560" cy="91440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188720"/>
            <a:ext cx="54406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本系統的回應方式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5623560" cy="91440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54406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量測成本高昂（每棵約 35 USD，小面積無法回收成本）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2057400"/>
            <a:ext cx="5623560" cy="91440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2103120"/>
            <a:ext cx="54406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AI 手機量測，成本降至每棵約 1.4 USD（降幅 96%）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71800"/>
            <a:ext cx="5623560" cy="91440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54406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人工量測誤差超過 Verra ≤ 25% 門檻，結果不被接受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2971800"/>
            <a:ext cx="5623560" cy="91440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3017520"/>
            <a:ext cx="54406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MAPE = 15.6%，通過 VM0047 §8.4 不確定性驗算（6.3% &lt; 8%）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86200"/>
            <a:ext cx="5623560" cy="91440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54406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缺乏第三方可信存證，量測記錄可被事後修改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3886200"/>
            <a:ext cx="5623560" cy="91440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3931920"/>
            <a:ext cx="54406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區塊鏈 SHA-256 雜湊存證，一致性比率 100%，不可竄改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00600"/>
            <a:ext cx="5623560" cy="91440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846320"/>
            <a:ext cx="54406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臺灣無現成方法學可對接，申請流程不清晰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4800600"/>
            <a:ext cx="5623560" cy="91440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4846320"/>
            <a:ext cx="54406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直接對接 Verra VM0047，繞過環境部，路徑技術上可行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833872"/>
            <a:ext cx="11247120" cy="50292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8887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C040"/>
                </a:solidFill>
              </a:rPr>
              <a:t>本系統同時回應四個障礙——這是研究存在的必要性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三個技術條件同時成熟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研究動機 3／4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5440680" cy="118872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52578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技術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188720"/>
            <a:ext cx="5440680" cy="118872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234440"/>
            <a:ext cx="52578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現況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77440"/>
            <a:ext cx="5440680" cy="118872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52578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📱  智慧型手機算力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2377440"/>
            <a:ext cx="5440680" cy="118872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2423160"/>
            <a:ext cx="52578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全球普及率超過 80%，田野操作無需專業設備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66160"/>
            <a:ext cx="5440680" cy="118872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11880"/>
            <a:ext cx="52578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👁  AI 視覺辨識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3566160"/>
            <a:ext cx="5440680" cy="118872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3611880"/>
            <a:ext cx="52578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可從影片幀直接估算物體尺寸，無需接觸樹幹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754880"/>
            <a:ext cx="5440680" cy="118872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52578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🔗  區塊鏈存證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4754880"/>
            <a:ext cx="5440680" cy="118872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4800600"/>
            <a:ext cx="52578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量測記錄不可竄改，可供第三方核查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81558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C040"/>
                </a:solidFill>
              </a:rPr>
              <a:t>三個條件各自成熟——整合的時機已經到來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研究切入點：把技術整合成一個田野工具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研究動機 4／4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F5E0"/>
                </a:solidFill>
              </a:rPr>
              <a:t>• 目標：讓一支手機就能完成符合 Verra VM0047 碳權標準的林木 DBH 量測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F5E0"/>
                </a:solidFill>
              </a:rPr>
              <a:t>• 核心挑戰：AI 估算有系統性低估偏差，如何自動校準？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F5E0"/>
                </a:solidFill>
              </a:rPr>
              <a:t>• 核心貢獻：動態自演進修正因子（CF）機制，讓系統隨每次量測自我改善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389120"/>
            <a:ext cx="10881360" cy="137160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8E09A"/>
                </a:solidFill>
              </a:rPr>
              <a:t>願景：讓一個只帶著手機走進森林的操作者，也能產出符合國際碳權標準的量測記錄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三個研究問題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160020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EC85A"/>
                </a:solidFill>
              </a:rPr>
              <a:t>RQ1　量測精度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F5E0"/>
                </a:solidFill>
              </a:rPr>
              <a:t>手機影片結合薄透鏡公式估算 DBH，量測精度能否達到 MAPE ≤ 25%？
評估：MAE、MAPE、RMSE、R²（Bootstrap 95% CI）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71800"/>
            <a:ext cx="11247120" cy="160020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4495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EC85A"/>
                </a:solidFill>
              </a:rPr>
              <a:t>RQ2　修正因子演進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02152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F5E0"/>
                </a:solidFill>
              </a:rPr>
              <a:t>修正因子能否藉由累積實測回饋自動演進，持續降低系統性偏差？
評估：演進前後 bias 比較、correction_factor_log 趨勢、LMM β₁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60020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91947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EC85A"/>
                </a:solidFill>
              </a:rPr>
              <a:t>RQ3　不可竄改性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76672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F5E0"/>
                </a:solidFill>
              </a:rPr>
              <a:t>區塊鏈存證機制能否確保碳匯量測記錄的不可竄改性？
評估：verify-blockchain.js 一致性比率、上鏈成功率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研究方式：設計科學研究法（DSRM）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方法論基礎：Peffers et al.（2007）六步驟循環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3749040" cy="749808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3566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步驟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143000"/>
            <a:ext cx="3749040" cy="749808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188720"/>
            <a:ext cx="3566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說明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80" y="1143000"/>
            <a:ext cx="3749040" cy="749808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188720"/>
            <a:ext cx="3566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對應章節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92808"/>
            <a:ext cx="3749040" cy="749808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38528"/>
            <a:ext cx="3566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① 問題識別與動機建構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892808"/>
            <a:ext cx="3749040" cy="749808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938528"/>
            <a:ext cx="3566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確立碎片化地主的量測障礙與碳匯管理缺口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1892808"/>
            <a:ext cx="3749040" cy="749808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938528"/>
            <a:ext cx="3566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第一章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42616"/>
            <a:ext cx="3749040" cy="749808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688336"/>
            <a:ext cx="3566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② 目標界定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642616"/>
            <a:ext cx="3749040" cy="749808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2688336"/>
            <a:ext cx="3566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訂定三個可量化的研究問題（RQ1–RQ3）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0" y="2642616"/>
            <a:ext cx="3749040" cy="749808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688336"/>
            <a:ext cx="3566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第一章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392424"/>
            <a:ext cx="3749040" cy="749808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438144"/>
            <a:ext cx="3566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③ 設計與開發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3392424"/>
            <a:ext cx="3749040" cy="749808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3438144"/>
            <a:ext cx="3566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三支柱平台：量測引擎 + CF 帳本 + 區塊鏈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80" y="3392424"/>
            <a:ext cx="3749040" cy="749808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3438144"/>
            <a:ext cx="3566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第三章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142232"/>
            <a:ext cx="3749040" cy="749808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187952"/>
            <a:ext cx="3566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④ 示範應用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4142232"/>
            <a:ext cx="3749040" cy="749808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4187952"/>
            <a:ext cx="3566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32 棵跨 14 樹種田野量測實驗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80" y="4142232"/>
            <a:ext cx="3749040" cy="749808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4187952"/>
            <a:ext cx="3566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第四章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892040"/>
            <a:ext cx="3749040" cy="749808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937760"/>
            <a:ext cx="3566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⑤ 效益評估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4892040"/>
            <a:ext cx="3749040" cy="749808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4937760"/>
            <a:ext cx="3566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MAPE、Bootstrap、LMM、Hevner 七項準則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55280" y="4892040"/>
            <a:ext cx="3749040" cy="749808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4937760"/>
            <a:ext cx="3566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第四章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641848"/>
            <a:ext cx="3749040" cy="749808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687568"/>
            <a:ext cx="3566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⑥ 推廣溝通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5641848"/>
            <a:ext cx="3749040" cy="749808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97680" y="5687568"/>
            <a:ext cx="3566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論文撰寫 + GitHub 開源 + MDPI Forests 投稿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55280" y="5641848"/>
            <a:ext cx="3749040" cy="749808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0" y="5687568"/>
            <a:ext cx="3566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第五章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研究流程：五章架構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0"/>
                </a:solidFill>
              </a:rPr>
              <a:t>• 第一章　問題識別與動機建構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36776"/>
            <a:ext cx="10972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0"/>
                </a:solidFill>
              </a:rPr>
              <a:t>    • → 三個研究問題（RQ1/RQ2/RQ3）+ DSRM 方法論框架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30552"/>
            <a:ext cx="10972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0"/>
                </a:solidFill>
              </a:rPr>
              <a:t>• 第二章　文獻探討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24328"/>
            <a:ext cx="10972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0"/>
                </a:solidFill>
              </a:rPr>
              <a:t>    • → 九個面向：DBH 量測、薄透鏡原理、AI 視覺、碳匯標準、區塊鏈……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18104"/>
            <a:ext cx="10972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0"/>
                </a:solidFill>
              </a:rPr>
              <a:t>• 第三章　設計與發展解決方案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11880"/>
            <a:ext cx="10972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0"/>
                </a:solidFill>
              </a:rPr>
              <a:t>    • → 三支柱平台實作（量測引擎、CF 帳本、CarbonCredit.sol）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05656"/>
            <a:ext cx="10972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0"/>
                </a:solidFill>
              </a:rPr>
              <a:t>• 第四章　解決方案展示與評估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99432"/>
            <a:ext cx="10972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0"/>
                </a:solidFill>
              </a:rPr>
              <a:t>    • → 田野量測 32 棵 × 五種前處理流程 × Hevner 七項準則評估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93208"/>
            <a:ext cx="10972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0"/>
                </a:solidFill>
              </a:rPr>
              <a:t>• 第五章　結論與未來發展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86984"/>
            <a:ext cx="10972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0"/>
                </a:solidFill>
              </a:rPr>
              <a:t>    • → 三個研究問題逐一回答 + 政策建議 + 未來研究方向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自洽機制：問題、設計、驗證環環相扣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3749040" cy="132588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35661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研究問題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143000"/>
            <a:ext cx="3749040" cy="132588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188720"/>
            <a:ext cx="35661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系統支柱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0" y="1143000"/>
            <a:ext cx="3749040" cy="132588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188720"/>
            <a:ext cx="35661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驗證方法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3749040" cy="132588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35661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RQ1：量測精度達 MAPE ≤ 25%？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468880"/>
            <a:ext cx="3749040" cy="132588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514600"/>
            <a:ext cx="35661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支柱一：影片量測引擎（薄透鏡公式 + 三路徑）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2468880"/>
            <a:ext cx="3749040" cy="132588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514600"/>
            <a:ext cx="35661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MAPE 15.6%、Bootstrap 95% CI、Verra VM0047 §8.4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94760"/>
            <a:ext cx="3749040" cy="132588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35661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RQ2：CF 能自動演進降低偏差？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3794760"/>
            <a:ext cx="3749040" cy="132588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3840480"/>
            <a:ext cx="35661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支柱二：CF 自演進帳本（加權移動平均）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0" y="3794760"/>
            <a:ext cx="3749040" cy="132588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3840480"/>
            <a:ext cx="35661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LMM β₁ = +2.91 cm（p = 0.004）、ICC = 0.000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120640"/>
            <a:ext cx="3749040" cy="132588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166360"/>
            <a:ext cx="35661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RQ3：區塊鏈確保不可竄改性？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5120640"/>
            <a:ext cx="3749040" cy="132588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5166360"/>
            <a:ext cx="35661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支柱三：區塊鏈存證（CarbonCredit.sol）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80" y="5120640"/>
            <a:ext cx="3749040" cy="132588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5166360"/>
            <a:ext cx="35661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verify-blockchain.js 一致性比率 100%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81558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C040"/>
                </a:solidFill>
              </a:rPr>
              <a:t>三個支柱同時滿足 Hevner 七項設計科學準則（準則一至七全部對應）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文獻回顧：現有方法 vs 本研究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3749040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35661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維度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143000"/>
            <a:ext cx="3749040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188720"/>
            <a:ext cx="35661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現有方法缺口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0" y="1143000"/>
            <a:ext cx="3749040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188720"/>
            <a:ext cx="35661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本研究填補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3749040" cy="100584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35661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量測方式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148840"/>
            <a:ext cx="3749040" cy="100584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194560"/>
            <a:ext cx="35661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皮尺等接觸式，耗時費力，難規模化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2148840"/>
            <a:ext cx="3749040" cy="100584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5661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手機影片 + 薄透鏡公式，非接觸式量測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54680"/>
            <a:ext cx="3749040" cy="100584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00400"/>
            <a:ext cx="35661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修正機制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3154680"/>
            <a:ext cx="3749040" cy="100584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3200400"/>
            <a:ext cx="35661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固定係數或無修正，無法適應不同樹種差異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0" y="3154680"/>
            <a:ext cx="3749040" cy="100584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3200400"/>
            <a:ext cx="35661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動態自演進 CF，各樹種獨立校準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60520"/>
            <a:ext cx="3749040" cy="100584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06240"/>
            <a:ext cx="35661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資料存證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4160520"/>
            <a:ext cx="3749040" cy="100584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4206240"/>
            <a:ext cx="35661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紙本或中央式資料庫，記錄可被竄改修改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80" y="4160520"/>
            <a:ext cx="3749040" cy="100584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4206240"/>
            <a:ext cx="35661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區塊鏈 SHA-256 雜湊，不可竄改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166360"/>
            <a:ext cx="3749040" cy="100584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212080"/>
            <a:ext cx="35661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國際合規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5166360"/>
            <a:ext cx="3749040" cy="100584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5212080"/>
            <a:ext cx="35661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多數研究不對標 Verra VM0047 碳權標準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80" y="5166360"/>
            <a:ext cx="3749040" cy="100584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5212080"/>
            <a:ext cx="35661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通過 VM0047 §8.4 不確定性驗算（6.3%）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81558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C040"/>
                </a:solidFill>
              </a:rPr>
              <a:t>三個面向同時整合是本研究的核心差異點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系統整體流程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系統架構 1／4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188720"/>
            <a:ext cx="9966960" cy="5257800"/>
          </a:xfrm>
          <a:prstGeom prst="rect">
            <a:avLst/>
          </a:prstGeom>
          <a:solidFill>
            <a:srgbClr val="243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280160"/>
            <a:ext cx="9692640" cy="5074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F0C040"/>
                </a:solidFill>
                <a:latin typeface="Courier New"/>
              </a:rPr>
              <a:t>田野拍攝（手機影片）</a:t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>    ↓</a:t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>幀選取與影像前處理（CLAHE）</a:t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>    ↓</a:t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>三條路徑平行分析</a:t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>    Path 0：Gemini Vision OCR 讀取量尺刻度</a:t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>    Path A：自動辨識參照物 → 幾何比例換算</a:t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>    Path B：無參照物 → AI 直接估算 → 套用動態 CF</a:t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>    ↓</a:t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>最佳路徑輸出 DBH 估算值</a:t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>    ↓</a:t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>區塊鏈存證  →  碳儲量計算鏈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三條處理路徑的觸發邏輯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系統架構 2／4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749040" cy="137160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356616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路徑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188720"/>
            <a:ext cx="3749040" cy="137160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234440"/>
            <a:ext cx="356616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觸發條件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80" y="1188720"/>
            <a:ext cx="3749040" cy="137160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234440"/>
            <a:ext cx="356616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主要技術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3749040" cy="137160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356616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Path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560320"/>
            <a:ext cx="3749040" cy="137160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606040"/>
            <a:ext cx="356616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操作者手動架設量尺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2560320"/>
            <a:ext cx="3749040" cy="137160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2606040"/>
            <a:ext cx="356616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Gemini Vision OCR 讀取量尺刻度，群聚演算法取中位數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3749040" cy="137160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77640"/>
            <a:ext cx="356616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Path 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931920"/>
            <a:ext cx="3749040" cy="137160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3977640"/>
            <a:ext cx="356616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畫面自動偵測到參照物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0" y="3931920"/>
            <a:ext cx="3749040" cy="137160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3977640"/>
            <a:ext cx="356616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幾何比例換算（量尺 / 信用卡）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03520"/>
            <a:ext cx="3749040" cy="137160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349240"/>
            <a:ext cx="356616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Path 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5303520"/>
            <a:ext cx="3749040" cy="137160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5349240"/>
            <a:ext cx="356616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無任何參照物（備援）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80" y="5303520"/>
            <a:ext cx="3749040" cy="137160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5349240"/>
            <a:ext cx="356616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CLAHE 影像增強 + AI 直接估算 + 動態 CF 修正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81558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C040"/>
                </a:solidFill>
              </a:rPr>
              <a:t>三條路徑互補，確保各種田野條件都有對應方案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地面真值（Ground Truth）的建立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系統架構 3／4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5E0"/>
                </a:solidFill>
              </a:rPr>
              <a:t>• 32 棵樣本樹，涵蓋 14 個樹種（分布極不均勻，部分樹種僅 1–2 棵）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5E0"/>
                </a:solidFill>
              </a:rPr>
              <a:t>• 每棵樹以皮尺在胸高（1.3 m）直接量測 DBH——這是「正確答案」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5E0"/>
                </a:solidFill>
              </a:rPr>
              <a:t>• 所有精度統計均以皮尺量測值為基準，計算：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5E0"/>
                </a:solidFill>
              </a:rPr>
              <a:t>    • 絕對誤差（AE）= AI 估算值 − 皮尺真值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5E0"/>
                </a:solidFill>
              </a:rPr>
              <a:t>    • 絕對百分比誤差（APE）= |AE| ÷ 皮尺真值 × 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5E0"/>
                </a:solidFill>
              </a:rPr>
              <a:t>• 31 棵進入有效分析（第 32 棵 AI 辨識失敗，排除）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5E0"/>
                </a:solidFill>
              </a:rPr>
              <a:t>• APE 是後續所有精度統計的原始材料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五種前處理流程比較設計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系統架構 4／4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F5E0"/>
                </a:solidFill>
              </a:rPr>
              <a:t>• 同一批 31 棵有效樣本送進 P1a、P1b、P2、P3、P4 五種配置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10512"/>
            <a:ext cx="10789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F5E0"/>
                </a:solidFill>
              </a:rPr>
              <a:t>• 不改變三條路徑的演算法，只改變幀選取方式與影像解析度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32304"/>
            <a:ext cx="10789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F5E0"/>
                </a:solidFill>
              </a:rPr>
              <a:t>• 評估指標：MAPE（平均絕對百分比誤差）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54096"/>
            <a:ext cx="10789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F5E0"/>
                </a:solidFill>
              </a:rPr>
              <a:t>• 目的：找出最佳前處理配置作為最終生產版本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40480"/>
            <a:ext cx="10881360" cy="19202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041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EC85A"/>
                </a:solidFill>
              </a:rPr>
              <a:t>結果：P4 達到最低 MAPE = 15.6%　→　確定為最終生產配置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177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0">
                <a:solidFill>
                  <a:srgbClr val="B8E09A"/>
                </a:solidFill>
              </a:rPr>
              <a:t>通過率（APE ≤ 25%）= 74.2%（23 / 31 棵）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66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0C040"/>
                </a:solidFill>
              </a:rPr>
              <a:t>Verra VM0047 §8.4 不確定性比率 6.3% &lt; 8% 門檻  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Path B 的核心問題：AI 為什麼系統性低估？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核心機制 1／5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F5E0"/>
                </a:solidFill>
              </a:rPr>
              <a:t>• AI 從影片幀估算 DBH，因缺乏絕對尺度參照，傾向系統性低估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F5E0"/>
                </a:solidFill>
              </a:rPr>
              <a:t>• 不同樹種的低估程度不同（樟樹 vs 竹子的偏差方向都可能不同）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054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F5E0"/>
                </a:solidFill>
              </a:rPr>
              <a:t>• 解法：修正因子（CF，Correction Factor）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63824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F5E0"/>
                </a:solidFill>
              </a:rPr>
              <a:t>    • 把 AI 輸出值乘以 CF 補償偏差：DBH 最終值 = AI 輸出 × CF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2219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F5E0"/>
                </a:solidFill>
              </a:rPr>
              <a:t>• 關鍵問題：CF 要設多少？一個固定值能適用所有樹種嗎？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663440"/>
            <a:ext cx="10881360" cy="14630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C040"/>
                </a:solidFill>
              </a:rPr>
              <a:t>靜態固定 CF（所有樹種同一個數字）
vs  動態自演進 CF（各樹種獨立持續更新）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靜態 CF vs 動態 CF：兩個互斥的替代方案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核心機制 2／5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749040" cy="7772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35661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188720"/>
            <a:ext cx="3749040" cy="7772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234440"/>
            <a:ext cx="35661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靜態全域 CF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80" y="1188720"/>
            <a:ext cx="3749040" cy="7772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234440"/>
            <a:ext cx="35661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動態自演進 CF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65960"/>
            <a:ext cx="3749040" cy="77724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35661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數值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965960"/>
            <a:ext cx="3749040" cy="77724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011680"/>
            <a:ext cx="35661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所有樹種共用 ×1.10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1965960"/>
            <a:ext cx="3749040" cy="77724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2011680"/>
            <a:ext cx="35661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各樹種獨立，最終加權平均 ≈ ×1.155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43200"/>
            <a:ext cx="3749040" cy="77724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788920"/>
            <a:ext cx="35661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來源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743200"/>
            <a:ext cx="3749040" cy="77724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2788920"/>
            <a:ext cx="35661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LOOCV 離線計算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0" y="2743200"/>
            <a:ext cx="3749040" cy="77724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788920"/>
            <a:ext cx="35661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每次量測後自動重算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520440"/>
            <a:ext cx="3749040" cy="77724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566160"/>
            <a:ext cx="35661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部署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3520440"/>
            <a:ext cx="3749040" cy="77724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3566160"/>
            <a:ext cx="35661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❌ 不進入生產系統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80" y="3520440"/>
            <a:ext cx="3749040" cy="77724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3566160"/>
            <a:ext cx="35661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✅ 生產系統實際使用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297680"/>
            <a:ext cx="3749040" cy="77724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343400"/>
            <a:ext cx="35661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用途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4297680"/>
            <a:ext cx="3749040" cy="77724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4343400"/>
            <a:ext cx="35661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比較實驗的基準條件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80" y="4297680"/>
            <a:ext cx="3749040" cy="77724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4343400"/>
            <a:ext cx="356616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真實校準機制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8A878"/>
                </a:solidFill>
              </a:rPr>
              <a:t>靜態 CF 是「比較用的假設條件」，不是競爭方案，也不與動態 CF 疊加使用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動態 CF 的運作邏輯：系統持續自我改善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核心機制 3／5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881360" cy="2468880"/>
          </a:xfrm>
          <a:prstGeom prst="rect">
            <a:avLst/>
          </a:prstGeom>
          <a:solidFill>
            <a:srgbClr val="243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106070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0C040"/>
                </a:solidFill>
                <a:latin typeface="Courier New"/>
              </a:rPr>
              <a:t>Step 1：系統對第 i 棵樹估算 DBH</a:t>
            </a:r>
          </a:p>
          <a:p>
            <a:r>
              <a:rPr sz="1800">
                <a:solidFill>
                  <a:srgbClr val="F0C040"/>
                </a:solidFill>
                <a:latin typeface="Courier New"/>
              </a:rPr>
              <a:t>Step 2：操作者事後提供皮尺量測值（地面真值）</a:t>
            </a:r>
          </a:p>
          <a:p>
            <a:r>
              <a:rPr sz="1800">
                <a:solidFill>
                  <a:srgbClr val="F0C040"/>
                </a:solidFill>
                <a:latin typeface="Courier New"/>
              </a:rPr>
              <a:t>Step 3：計算這棵樹的 CF = 皮尺值 ÷ AI 估算值</a:t>
            </a:r>
          </a:p>
          <a:p>
            <a:r>
              <a:rPr sz="1800">
                <a:solidFill>
                  <a:srgbClr val="F0C040"/>
                </a:solidFill>
                <a:latin typeface="Courier New"/>
              </a:rPr>
              <a:t>Step 4：更新該樹種的 CF 加權平均</a:t>
            </a:r>
          </a:p>
          <a:p>
            <a:r>
              <a:rPr sz="1800">
                <a:solidFill>
                  <a:srgbClr val="F0C040"/>
                </a:solidFill>
                <a:latin typeface="Courier New"/>
              </a:rPr>
              <a:t>Step 5：下一棵同樹種的量測使用更新後的 CF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895344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C040"/>
                </a:solidFill>
              </a:rPr>
              <a:t>效果：資料越多，校準越精準——各樹種的偏差逐步趨近零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F5E0"/>
                </a:solidFill>
              </a:rPr>
              <a:t>• 不同樹種各自維護獨立的 CF，不互相干擾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035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F5E0"/>
                </a:solidFill>
              </a:rPr>
              <a:t>• 新樹種進入系統時，CF 從初始值開始學習，隨樣本累積快速收斂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LOOCV：建立靜態 CF 的客觀基準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核心機制 4／5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F5E0"/>
                </a:solidFill>
              </a:rPr>
              <a:t>• 目的：為比較實驗提供客觀的靜態全域 CF 估計值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F5E0"/>
                </a:solidFill>
              </a:rPr>
              <a:t>• 方法：Leave-One-Out Cross-Validation（逐一剔除交叉驗證）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23160"/>
            <a:ext cx="10881360" cy="2468880"/>
          </a:xfrm>
          <a:prstGeom prst="rect">
            <a:avLst/>
          </a:prstGeom>
          <a:solidFill>
            <a:srgbClr val="243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106070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F0C040"/>
                </a:solidFill>
                <a:latin typeface="Courier New"/>
              </a:rPr>
              <a:t>重複 31 次：</a:t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>    剔除第 i 棵樹</a:t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>    用剩下 30 棵計算靜態 CF</a:t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>    把這個 CF 套回第 i 棵，記錄預測誤差</a:t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>取 31 次的平均 → 靜態全域 CF ≈ ×1.10（排除離群值後）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8A878"/>
                </a:solidFill>
              </a:rPr>
              <a:t>⚠  這個數字只用於後續 LMM 比較實驗的輸入，不改變生產系統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CF 敏感度掃描：動態之後還需要疊加靜態補丁嗎？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核心機制 5／5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F5E0"/>
                </a:solidFill>
              </a:rPr>
              <a:t>• 問題：動態 CF 跑完之後，如果再疊加一個全域靜態乘數，結果會更好嗎？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881360" cy="3017520"/>
          </a:xfrm>
          <a:prstGeom prst="rect">
            <a:avLst/>
          </a:prstGeom>
          <a:solidFill>
            <a:srgbClr val="243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59"/>
            <a:ext cx="1060704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F0C040"/>
                </a:solidFill>
                <a:latin typeface="Courier New"/>
              </a:rPr>
              <a:t>計算結構：最終 DBH = AI 輸出 × 動態 CF × 額外靜態乘數</a:t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/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>掃描範圍：×1.00 → ×1.20（步長 0.025）</a:t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>評估指標：通過率（APE ≤ 25% 的棵數佔比）</a:t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/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>結果：×1.00 時通過率最高</a:t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>       → 不加任何靜態補丁是最好的選擇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81558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C040"/>
                </a:solidFill>
              </a:rPr>
              <a:t>動態 CF 已把偏差校準完畢，任何靜態補丁只會讓結果變差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精度評估的兩把尺：MAE 與 MAPE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精度驗證 1／5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246888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EC85A"/>
                </a:solidFill>
              </a:rPr>
              <a:t>MAE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E09A"/>
                </a:solidFill>
              </a:rPr>
              <a:t>Mean Absolute Error / 平均絕對誤差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0"/>
                </a:solidFill>
              </a:rPr>
              <a:t>• 單位：公分
• 直覺反映「平均差了幾公分」
• 與真實距離有直覺連結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394960" cy="246888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9844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C040"/>
                </a:solidFill>
              </a:rPr>
              <a:t>MAPE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8E09A"/>
                </a:solidFill>
              </a:rPr>
              <a:t>Mean Absolute Percentage Error（論文主要指標）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0"/>
                </a:solidFill>
              </a:rPr>
              <a:t>• 單位：百分比
• 讓不同體型的樹可以公平比較
• 20 cm 差 2 cm ≠ 80 cm 差 2 cm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94760"/>
            <a:ext cx="11247120" cy="50292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84962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C040"/>
                </a:solidFill>
              </a:rPr>
              <a:t>MAPE 是論文主要精度指標，因為它排除了樹木體型差異的影響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34840"/>
            <a:ext cx="11247120" cy="1737360"/>
          </a:xfrm>
          <a:prstGeom prst="rect">
            <a:avLst/>
          </a:prstGeom>
          <a:solidFill>
            <a:srgbClr val="243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C040"/>
                </a:solidFill>
              </a:rPr>
              <a:t>MAE = Σ |AI估算 − 皮尺真值| ÷ 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5720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C040"/>
                </a:solidFill>
              </a:rPr>
              <a:t>MAPE = Σ (|AI估算 − 皮尺真值| ÷ 皮尺真值) ÷ n × 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663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C040"/>
                </a:solidFill>
              </a:rPr>
              <a:t>R² = 1 − Σ(AI估算 − 皮尺真值)² / Σ(皮尺真值 − 均值)²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P4 生產系統精度結果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精度驗證 2／5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3718560" cy="96012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35356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指標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200" y="1188720"/>
            <a:ext cx="3718560" cy="96012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58640" y="1234440"/>
            <a:ext cx="35356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數值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7985760" y="1188720"/>
            <a:ext cx="3718560" cy="96012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77200" y="1234440"/>
            <a:ext cx="35356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說明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3718560" cy="96012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35356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MAPE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7200" y="2148840"/>
            <a:ext cx="3718560" cy="96012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8640" y="2194560"/>
            <a:ext cx="35356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15.6%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85760" y="2148840"/>
            <a:ext cx="3718560" cy="96012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7200" y="2194560"/>
            <a:ext cx="35356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五條流程中最低，確定為最終配置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08960"/>
            <a:ext cx="3718560" cy="96012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154680"/>
            <a:ext cx="35356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通過率（APE ≤ 25%）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7200" y="3108960"/>
            <a:ext cx="3718560" cy="96012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58640" y="3154680"/>
            <a:ext cx="35356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74.2%（23 / 31 棵）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85760" y="3108960"/>
            <a:ext cx="3718560" cy="96012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7200" y="3154680"/>
            <a:ext cx="35356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符合 Hevner 準則三 &amp; Verra VM0047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069080"/>
            <a:ext cx="3718560" cy="96012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114800"/>
            <a:ext cx="35356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MAE（Path A 全樣本）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67200" y="4069080"/>
            <a:ext cx="3718560" cy="96012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8640" y="4114800"/>
            <a:ext cx="35356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7.86 cm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5760" y="4069080"/>
            <a:ext cx="3718560" cy="96012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77200" y="4114800"/>
            <a:ext cx="35356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平均差距 7.86 公分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029200"/>
            <a:ext cx="3718560" cy="96012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074920"/>
            <a:ext cx="35356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Verra 不確定性比率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67200" y="5029200"/>
            <a:ext cx="3718560" cy="96012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58640" y="5074920"/>
            <a:ext cx="35356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6.3%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85760" y="5029200"/>
            <a:ext cx="3718560" cy="96012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77200" y="5074920"/>
            <a:ext cx="35356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低於 VM0047 §8.4 的 8% 門檻 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81558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C040"/>
                </a:solidFill>
              </a:rPr>
              <a:t>P4 在 MAPE、通過率、Verra 合規三個維度同時達標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Bootstrap 重採樣：精度數字有多可信？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精度驗證 3／5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F5E0"/>
                </a:solidFill>
              </a:rPr>
              <a:t>• 問題：MAPE = 15.6% 只是這 31 棵樣本的結果，換一批樣本會差多少？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881360" cy="3383280"/>
          </a:xfrm>
          <a:prstGeom prst="rect">
            <a:avLst/>
          </a:prstGeom>
          <a:solidFill>
            <a:srgbClr val="243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59"/>
            <a:ext cx="106070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0C040"/>
                </a:solidFill>
                <a:latin typeface="Courier New"/>
              </a:rPr>
              <a:t>做法（有放回抽樣，sampling with replacement）：</a:t>
            </a:r>
          </a:p>
          <a:p>
            <a:r>
              <a:rPr sz="1500">
                <a:solidFill>
                  <a:srgbClr val="F0C040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F0C040"/>
                </a:solidFill>
                <a:latin typeface="Courier New"/>
              </a:rPr>
              <a:t>  每次：從 31 棵有效樣本有放回地抽取 31 棵</a:t>
            </a:r>
          </a:p>
          <a:p>
            <a:r>
              <a:rPr sz="1500">
                <a:solidFill>
                  <a:srgbClr val="F0C040"/>
                </a:solidFill>
                <a:latin typeface="Courier New"/>
              </a:rPr>
              <a:t>         （同一棵可能出現 2–3 次，另一棵可能完全沒被抽到）</a:t>
            </a:r>
          </a:p>
          <a:p>
            <a:r>
              <a:rPr sz="1500">
                <a:solidFill>
                  <a:srgbClr val="F0C040"/>
                </a:solidFill>
                <a:latin typeface="Courier New"/>
              </a:rPr>
              <a:t>  計算這組樣本的 MAPE，記錄</a:t>
            </a:r>
          </a:p>
          <a:p>
            <a:r>
              <a:rPr sz="1500">
                <a:solidFill>
                  <a:srgbClr val="F0C040"/>
                </a:solidFill>
                <a:latin typeface="Courier New"/>
              </a:rPr>
              <a:t>  重複 10,000 次</a:t>
            </a:r>
          </a:p>
          <a:p>
            <a:r>
              <a:rPr sz="1500">
                <a:solidFill>
                  <a:srgbClr val="F0C040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F0C040"/>
                </a:solidFill>
                <a:latin typeface="Courier New"/>
              </a:rPr>
              <a:t>  10,000 個 MAPE 值排序後：</a:t>
            </a:r>
          </a:p>
          <a:p>
            <a:r>
              <a:rPr sz="1500">
                <a:solidFill>
                  <a:srgbClr val="F0C040"/>
                </a:solidFill>
                <a:latin typeface="Courier New"/>
              </a:rPr>
              <a:t>    第 250 個（第 2.5 百分位）  → Bootstrap 95% CI 下界</a:t>
            </a:r>
          </a:p>
          <a:p>
            <a:r>
              <a:rPr sz="1500">
                <a:solidFill>
                  <a:srgbClr val="F0C040"/>
                </a:solidFill>
                <a:latin typeface="Courier New"/>
              </a:rPr>
              <a:t>    第 9,750 個（第 97.5 百分位）→ Bootstrap 95% CI 上界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81558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C040"/>
                </a:solidFill>
              </a:rPr>
              <a:t>95% CI 意義：重複 100 次田野量測，約 95 次的 MAPE 落在這個區間內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通過率、Hevner 準則三 與 Verra 門檻的關係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精度驗證 4／5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EC85A"/>
                </a:solidFill>
              </a:rPr>
              <a:t>通過率（Pass Rate）= APE ≤ 25% 的棵數佔比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5577840" cy="91440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3949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框架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737360"/>
            <a:ext cx="5577840" cy="91440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783080"/>
            <a:ext cx="53949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25% 門檻的意義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5577840" cy="91440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53949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Hevner 系統設計準則三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651760"/>
            <a:ext cx="5577840" cy="91440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697480"/>
            <a:ext cx="53949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系統必須提供可評估的實用效益，APE ≤ 25% 視為可接受精度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66160"/>
            <a:ext cx="5577840" cy="91440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53949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Verra VM0047 規範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566160"/>
            <a:ext cx="5577840" cy="91440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611880"/>
            <a:ext cx="53949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量測精度要求，APE ≤ 25% 是田野量測的合格標準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26280"/>
            <a:ext cx="11247120" cy="50292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58114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C040"/>
                </a:solidFill>
              </a:rPr>
              <a:t>兩個框架共用同一個門檻，一次驗證同時滿足學術設計準則與碳權法規要求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166360"/>
            <a:ext cx="10881360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37667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EC85A"/>
                </a:solidFill>
              </a:rPr>
              <a:t>P4 通過率 = 74.2%（23 / 31 棵），遠超最低要求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五條前處理流程精度完整比較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精度驗證 5／5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811780" cy="804672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3268980" y="1188720"/>
            <a:ext cx="2811780" cy="804672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60420" y="1234440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MAPE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188720"/>
            <a:ext cx="2811780" cy="804672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234440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通過率（APE ≤ 25%）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92540" y="1188720"/>
            <a:ext cx="2811780" cy="804672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83980" y="1234440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備註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93392"/>
            <a:ext cx="2811780" cy="804672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39112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P1a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8980" y="1993392"/>
            <a:ext cx="2811780" cy="804672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60420" y="2039112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較高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993392"/>
            <a:ext cx="2811780" cy="804672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039112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較低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92540" y="1993392"/>
            <a:ext cx="2811780" cy="804672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83980" y="2039112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基礎配置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98064"/>
            <a:ext cx="2811780" cy="804672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843784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P1b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68980" y="2798064"/>
            <a:ext cx="2811780" cy="804672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60420" y="2843784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略優於 P1a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2798064"/>
            <a:ext cx="2811780" cy="804672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2843784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略優於 P1a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92540" y="2798064"/>
            <a:ext cx="2811780" cy="804672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83980" y="2843784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調整幀選取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602736"/>
            <a:ext cx="2811780" cy="804672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648456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P2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68980" y="3602736"/>
            <a:ext cx="2811780" cy="804672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60420" y="3648456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中等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3602736"/>
            <a:ext cx="2811780" cy="804672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3648456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中等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92540" y="3602736"/>
            <a:ext cx="2811780" cy="804672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83980" y="3648456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提升解析度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407408"/>
            <a:ext cx="2811780" cy="804672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453128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P3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68980" y="4407408"/>
            <a:ext cx="2811780" cy="804672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60420" y="4453128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中等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4407408"/>
            <a:ext cx="2811780" cy="804672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4453128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中等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92540" y="4407408"/>
            <a:ext cx="2811780" cy="804672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83980" y="4453128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混合策略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212080"/>
            <a:ext cx="2811780" cy="804672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257800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P4  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68980" y="5212080"/>
            <a:ext cx="2811780" cy="804672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60420" y="5257800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15.6%  最低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80760" y="5212080"/>
            <a:ext cx="2811780" cy="804672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72200" y="5257800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74.2%  最高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92540" y="5212080"/>
            <a:ext cx="2811780" cy="804672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83980" y="5257800"/>
            <a:ext cx="26289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最終生產配置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88A878"/>
                </a:solidFill>
              </a:rPr>
              <a:t>P4 在 MAPE 與通過率兩個維度同時表現最佳，是合理的最終選擇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挑戰：14 個樹種分布不均，如何公平比較 CF 效果？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統計分析 1／5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F5E0"/>
                </a:solidFill>
              </a:rPr>
              <a:t>• 31 棵樣本橫跨 14 個樹種，部分樹種只有 1–2 棵代表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F5E0"/>
                </a:solidFill>
              </a:rPr>
              <a:t>• 直接比較「靜態 CF vs 動態 CF 的整體 MAPE」會被分布不均干擾：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F5E0"/>
                </a:solidFill>
              </a:rPr>
              <a:t>    • 高估傾向的樹種若樣本多，整體均值就被拉偏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F5E0"/>
                </a:solidFill>
              </a:rPr>
              <a:t>    • 無法判斷 MAPE 差異來自 CF 類型，還是樣本組成偶然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F5E0"/>
                </a:solidFill>
              </a:rPr>
              <a:t>• 需要一個方法把「樹種先天差異」和「CF 類型的純效果」分離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663440"/>
            <a:ext cx="10881360" cy="14630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95604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EC85A"/>
                </a:solidFill>
              </a:rPr>
              <a:t>解法：線性混合模型（LMM，Linear Mixed Model）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LMM 的設計邏輯：分離樹種效應與 CF 效應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統計分析 2／5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881360" cy="1783080"/>
          </a:xfrm>
          <a:prstGeom prst="rect">
            <a:avLst/>
          </a:prstGeom>
          <a:solidFill>
            <a:srgbClr val="243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1060704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F0C040"/>
                </a:solidFill>
                <a:latin typeface="Courier New"/>
              </a:rPr>
              <a:t>模型結構：</a:t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>  偏差 = 樹種基準線（隨機效應）</a:t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>         + CF 類型效果（固定效應 β₁）</a:t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>         + 個體隨機誤差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3749040" cy="896112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組件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3063240"/>
            <a:ext cx="3749040" cy="896112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31089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角色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3063240"/>
            <a:ext cx="3749040" cy="896112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31089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意義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59352"/>
            <a:ext cx="3749040" cy="896112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05072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隨機效應（Random Effect）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3959352"/>
            <a:ext cx="3749040" cy="896112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4005072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樹種 → 各自有獨立截距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0" y="3959352"/>
            <a:ext cx="3749040" cy="896112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4005072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吸收各樹種先天偏高或偏低的傾向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55464"/>
            <a:ext cx="3749040" cy="896112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901184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固定效應（Fixed Effect）β₁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4855464"/>
            <a:ext cx="3749040" cy="896112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4901184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CF 類型（靜態 vs 動態）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80" y="4855464"/>
            <a:ext cx="3749040" cy="896112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4901184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排除樹種後，改用靜態 CF 帶來的純偏差變化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751576"/>
            <a:ext cx="3749040" cy="896112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797296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求解方法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5751576"/>
            <a:ext cx="3749040" cy="896112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5797296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REML（限制最大概似估計）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80" y="5751576"/>
            <a:ext cx="3749040" cy="896112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5797296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小樣本下對隨機效應變異數估計更不偏（優於 MLE）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0533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88A878"/>
                </a:solidFill>
              </a:rPr>
              <a:t>工具：Python statsmodels MixedLM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LMM 結果：β₁ = +2.91 cm（p = 0.004）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統計分析 3／5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F5E0"/>
                </a:solidFill>
              </a:rPr>
              <a:t>• 虛無假說（H₀）：改用靜態 CF 對偏差沒有影響，β₁ =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F5E0"/>
                </a:solidFill>
              </a:rPr>
              <a:t>• p = 0.004 代表：如果 H₀ 成立，隨機抽樣觀察到「β₁ ≥ +2.91 cm」的機率只有 0.4%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F5E0"/>
                </a:solidFill>
              </a:rPr>
              <a:t>• 慣例顯著性門檻：p &lt; 0.05，p = 0.004 遠低於門檻，H₀ 被拒絕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383280"/>
            <a:ext cx="10881360" cy="201168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49300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8A878"/>
                </a:solidFill>
              </a:rPr>
              <a:t>白話：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8E09A"/>
                </a:solidFill>
              </a:rPr>
              <a:t>統計上幾乎可以確定，改用靜態 CF 讓偏差顯著增加了將近 3 公分
這不是隨機誤差，是真實的系統性惡化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ICC = 0.000：動態機制在各樹種均勻有效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統計分析 4／5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881360" cy="2103120"/>
          </a:xfrm>
          <a:prstGeom prst="rect">
            <a:avLst/>
          </a:prstGeom>
          <a:solidFill>
            <a:srgbClr val="243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106070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0C040"/>
                </a:solidFill>
                <a:latin typeface="Courier New"/>
              </a:rPr>
              <a:t>ICC = τ²（組間變異數）/ （τ² + σ²（組內殘差變異數））</a:t>
            </a:r>
          </a:p>
          <a:p>
            <a:r>
              <a:rPr sz="1600">
                <a:solidFill>
                  <a:srgbClr val="F0C040"/>
                </a:solidFill>
                <a:latin typeface="Courier New"/>
              </a:rPr>
              <a:t/>
            </a:r>
          </a:p>
          <a:p>
            <a:r>
              <a:rPr sz="1600">
                <a:solidFill>
                  <a:srgbClr val="F0C040"/>
                </a:solidFill>
                <a:latin typeface="Courier New"/>
              </a:rPr>
              <a:t>ICC → 1：樹種仍有系統性規律（某樹種高估 / 某樹種低估）</a:t>
            </a:r>
          </a:p>
          <a:p>
            <a:r>
              <a:rPr sz="1600">
                <a:solidFill>
                  <a:srgbClr val="F0C040"/>
                </a:solidFill>
                <a:latin typeface="Courier New"/>
              </a:rPr>
              <a:t>ICC → 0：樹種分組解釋不了任何誤差，各樹種殘差結構相同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429000"/>
            <a:ext cx="10881360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EC85A"/>
                </a:solidFill>
              </a:rPr>
              <a:t>結果：ICC = 0.000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0"/>
                </a:solidFill>
              </a:rPr>
              <a:t>• 動態 CF 已把每個樹種的偏差分別校準到接近零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47488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0"/>
                </a:solidFill>
              </a:rPr>
              <a:t>• 剩下的誤差是每棵樹各自的個體隨機波動，不再有樹種層面的系統性規律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22976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0"/>
                </a:solidFill>
              </a:rPr>
              <a:t>• ⚠  小樣本限制：31 棵分散 14 樹種，REML 在組內樣本極少時 τ² 容易趨近零；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98464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F5E0"/>
                </a:solidFill>
              </a:rPr>
              <a:t>•   ICC = 0 的解讀需保持審慎，不宜過度推論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統計論證鏈一覽：五個結果串成一條論證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統計分析 5／5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810000" cy="749808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6271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統計工具</a:t>
            </a:r>
          </a:p>
        </p:txBody>
      </p:sp>
      <p:sp>
        <p:nvSpPr>
          <p:cNvPr id="7" name="Rectangle 6"/>
          <p:cNvSpPr/>
          <p:nvPr/>
        </p:nvSpPr>
        <p:spPr>
          <a:xfrm>
            <a:off x="4175760" y="1188720"/>
            <a:ext cx="3810000" cy="749808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67200" y="1234440"/>
            <a:ext cx="36271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回答的問題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985760" y="1188720"/>
            <a:ext cx="3810000" cy="749808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77200" y="1234440"/>
            <a:ext cx="36271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結果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38528"/>
            <a:ext cx="3810000" cy="749808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84248"/>
            <a:ext cx="36271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Bootstrap 95% CI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5760" y="1938528"/>
            <a:ext cx="3810000" cy="749808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7200" y="1984248"/>
            <a:ext cx="36271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精度數字穩健嗎？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85760" y="1938528"/>
            <a:ext cx="3810000" cy="749808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7200" y="1984248"/>
            <a:ext cx="36271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✅  是（10,000 次重採樣確認）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88336"/>
            <a:ext cx="3810000" cy="749808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34056"/>
            <a:ext cx="36271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LOOCV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75760" y="2688336"/>
            <a:ext cx="3810000" cy="749808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67200" y="2734056"/>
            <a:ext cx="36271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靜態 CF 基準值是多少？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85760" y="2688336"/>
            <a:ext cx="3810000" cy="749808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7200" y="2734056"/>
            <a:ext cx="36271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×1.10（離線估算，僅用於比較）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438144"/>
            <a:ext cx="3810000" cy="749808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483864"/>
            <a:ext cx="36271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CF 敏感度掃描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75760" y="3438144"/>
            <a:ext cx="3810000" cy="749808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67200" y="3483864"/>
            <a:ext cx="36271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動態後還需要疊加靜態補丁嗎？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5760" y="3438144"/>
            <a:ext cx="3810000" cy="749808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77200" y="3483864"/>
            <a:ext cx="36271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❌  不需要（最優額外乘數 = ×1.00）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187952"/>
            <a:ext cx="3810000" cy="749808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233672"/>
            <a:ext cx="36271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LMM（β₁，p 值）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75760" y="4187952"/>
            <a:ext cx="3810000" cy="749808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67200" y="4233672"/>
            <a:ext cx="36271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靜態取代動態會差多少？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85760" y="4187952"/>
            <a:ext cx="3810000" cy="749808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77200" y="4233672"/>
            <a:ext cx="36271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差 +2.91 cm（p = 0.004），顯著惡化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937760"/>
            <a:ext cx="3810000" cy="749808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983480"/>
            <a:ext cx="36271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ICC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75760" y="4937760"/>
            <a:ext cx="3810000" cy="749808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67200" y="4983480"/>
            <a:ext cx="36271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動態機制各樹種均勻有效嗎？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85760" y="4937760"/>
            <a:ext cx="3810000" cy="749808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77200" y="4983480"/>
            <a:ext cx="36271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✅  是（ICC = 0.000，但受小樣本制約）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861304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C040"/>
                </a:solidFill>
              </a:rPr>
              <a:t>五個結果共同支撐：動態自演進 CF 不需靜態補丁，也不應被靜態值取代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Verra VM0047 §8.4 合規驗算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Verra 合規 1／3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5E0"/>
                </a:solidFill>
              </a:rPr>
              <a:t>• Verra 規定以 90% CI（有別於學術慣例 95% CI）計算量測不確定性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5E0"/>
                </a:solidFill>
              </a:rPr>
              <a:t>• 兩者信賴水準不同：95% CI 用於學術精度報告；90% CI 是法規規定，各有出處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23160"/>
            <a:ext cx="10881360" cy="2651760"/>
          </a:xfrm>
          <a:prstGeom prst="rect">
            <a:avLst/>
          </a:prstGeom>
          <a:solidFill>
            <a:srgbClr val="243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1060704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F0C040"/>
                </a:solidFill>
                <a:latin typeface="Courier New"/>
              </a:rPr>
              <a:t>Verra 計算邏輯（半寬佔均值比率）：</a:t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/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>  半寬 = （90% CI 上界 − 下界）÷ 2</a:t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>  比率 = 半寬 ÷ 均值 × 100%</a:t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/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>  門檻：比率 ≤ 8%</a:t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>  （量測不確定範圍必須控制在均值的 8% 以內）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212080"/>
            <a:ext cx="10881360" cy="91440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3766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EC85A"/>
                </a:solidFill>
              </a:rPr>
              <a:t>DBH 層級：6.3%  &lt; 8% 門檻  ✅  通過（比門檻低約 27%）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區塊鏈存證：讓量測記錄不可竄改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Verra 合規 2／3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F5E0"/>
                </a:solidFill>
              </a:rPr>
              <a:t>• 每次田野量測完成後，資料雜湊值自動上鏈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F5E0"/>
                </a:solidFill>
              </a:rPr>
              <a:t>• 第三方查核員可驗證：任何一筆量測記錄是否被事後修改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F5E0"/>
                </a:solidFill>
              </a:rPr>
              <a:t>• 從量測 → 碳儲量計算 → 碳權核發，全鏈條可追溯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F5E0"/>
                </a:solidFill>
              </a:rPr>
              <a:t>• 不可竄改性是碳權市場公信力的技術基礎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40480"/>
            <a:ext cx="10881360" cy="2377440"/>
          </a:xfrm>
          <a:prstGeom prst="rect">
            <a:avLst/>
          </a:prstGeom>
          <a:solidFill>
            <a:srgbClr val="243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931920"/>
            <a:ext cx="106070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F0C040"/>
                </a:solidFill>
                <a:latin typeface="Courier New"/>
              </a:rPr>
              <a:t>存證流程：</a:t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>  量測資料（DBH、影片幀、時間戳）</a:t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>      → SHA-256 雜湊</a:t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>      → 上鏈（交易雜湊值）</a:t>
            </a:r>
          </a:p>
          <a:p>
            <a:r>
              <a:rPr sz="1700">
                <a:solidFill>
                  <a:srgbClr val="F0C040"/>
                </a:solidFill>
                <a:latin typeface="Courier New"/>
              </a:rPr>
              <a:t>      → 任何人可驗證原始資料未被修改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從田野到碳權的完整計算鏈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Verra 合規 3／3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280160"/>
            <a:ext cx="9418320" cy="3840480"/>
          </a:xfrm>
          <a:prstGeom prst="rect">
            <a:avLst/>
          </a:prstGeom>
          <a:solidFill>
            <a:srgbClr val="243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3716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F0C040"/>
                </a:solidFill>
                <a:latin typeface="Courier New"/>
              </a:rPr>
              <a:t>DBH（皮尺 or AI 估算）</a:t>
            </a:r>
          </a:p>
          <a:p>
            <a:r>
              <a:rPr sz="1900">
                <a:solidFill>
                  <a:srgbClr val="F0C040"/>
                </a:solidFill>
                <a:latin typeface="Courier New"/>
              </a:rPr>
              <a:t>    ↓  材積公式</a:t>
            </a:r>
          </a:p>
          <a:p>
            <a:r>
              <a:rPr sz="1900">
                <a:solidFill>
                  <a:srgbClr val="F0C040"/>
                </a:solidFill>
                <a:latin typeface="Courier New"/>
              </a:rPr>
              <a:t>材積（Volume）</a:t>
            </a:r>
          </a:p>
          <a:p>
            <a:r>
              <a:rPr sz="1900">
                <a:solidFill>
                  <a:srgbClr val="F0C040"/>
                </a:solidFill>
                <a:latin typeface="Courier New"/>
              </a:rPr>
              <a:t>    ↓  × 木材密度</a:t>
            </a:r>
          </a:p>
          <a:p>
            <a:r>
              <a:rPr sz="1900">
                <a:solidFill>
                  <a:srgbClr val="F0C040"/>
                </a:solidFill>
                <a:latin typeface="Courier New"/>
              </a:rPr>
              <a:t>地上生物量（AGB，Above Ground Biomass）</a:t>
            </a:r>
          </a:p>
          <a:p>
            <a:r>
              <a:rPr sz="1900">
                <a:solidFill>
                  <a:srgbClr val="F0C040"/>
                </a:solidFill>
                <a:latin typeface="Courier New"/>
              </a:rPr>
              <a:t>    ↓  × 碳含量係數</a:t>
            </a:r>
          </a:p>
          <a:p>
            <a:r>
              <a:rPr sz="1900">
                <a:solidFill>
                  <a:srgbClr val="F0C040"/>
                </a:solidFill>
                <a:latin typeface="Courier New"/>
              </a:rPr>
              <a:t>碳儲量（Carbon Stock）</a:t>
            </a:r>
          </a:p>
          <a:p>
            <a:r>
              <a:rPr sz="1900">
                <a:solidFill>
                  <a:srgbClr val="F0C040"/>
                </a:solidFill>
                <a:latin typeface="Courier New"/>
              </a:rPr>
              <a:t>    ↓  區塊鏈存證（不可竄改）</a:t>
            </a:r>
          </a:p>
          <a:p>
            <a:r>
              <a:rPr sz="1900">
                <a:solidFill>
                  <a:srgbClr val="F0C040"/>
                </a:solidFill>
                <a:latin typeface="Courier New"/>
              </a:rPr>
              <a:t>碳權申請（Verra VM0047 合規）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394960"/>
            <a:ext cx="11247120" cy="50292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44982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C040"/>
                </a:solidFill>
              </a:rPr>
              <a:t>DBH 精度越高 → 碳儲量估算越準確 → 碳權公信力越強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植樹造林模組實作：SDG 15 具體落實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植樹造林實作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623560" cy="86868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4406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功能模組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188720"/>
            <a:ext cx="5623560" cy="86868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234440"/>
            <a:ext cx="54406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說明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5623560" cy="86868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54406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植樹事件記錄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2057400"/>
            <a:ext cx="5623560" cy="86868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2103120"/>
            <a:ext cx="54406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種植位置（GPS）、樹種、種植日期、負責人員，賦予每棵樹完整數位身份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5623560" cy="86868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54406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區塊鏈存證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2926080"/>
            <a:ext cx="5623560" cy="86868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971800"/>
            <a:ext cx="54406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植樹事件 SHA-256 雜湊上鏈，確保記錄不可竄改、可供第三方驗證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94760"/>
            <a:ext cx="5623560" cy="86868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40480"/>
            <a:ext cx="54406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碳吸收追蹤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3794760"/>
            <a:ext cx="5623560" cy="86868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3840480"/>
            <a:ext cx="54406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結合 AI 量測模組，追蹤種樹後的 DBH 生長曲線與碳匯貢獻變化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63440"/>
            <a:ext cx="5623560" cy="86868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709160"/>
            <a:ext cx="54406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SDG 15 對應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4663440"/>
            <a:ext cx="5623560" cy="86868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4709160"/>
            <a:ext cx="54406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每一筆記錄對應聯合國陸域生命——永續林地管理與植樹造林子目標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32120"/>
            <a:ext cx="5623560" cy="86868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577840"/>
            <a:ext cx="54406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可擴充性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5532120"/>
            <a:ext cx="5623560" cy="868680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5577840"/>
            <a:ext cx="54406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支援多地點、多機構的分散式植樹造林記錄，架構設計具彈性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研究的三項核心貢獻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結論 1／5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60020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7EC85A"/>
                </a:solidFill>
              </a:rPr>
              <a:t>①  動態自演進 CF 機制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733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F5E0"/>
                </a:solidFill>
              </a:rPr>
              <a:t>系統隨每次田野量測自動校準，無需人工設定固定值，適應不同樹種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71800"/>
            <a:ext cx="11247120" cy="160020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7EC85A"/>
                </a:solidFill>
              </a:rPr>
              <a:t>②  多樹種均勻有效（ICC = 0.000）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4787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F5E0"/>
                </a:solidFill>
              </a:rPr>
              <a:t>14 個樹種之間沒有任何系統性盲點，動態機制適用所有受測樹種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846320"/>
            <a:ext cx="11247120" cy="160020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7EC85A"/>
                </a:solidFill>
              </a:rPr>
              <a:t>③  通過 Verra 國際碳權標準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223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F5E0"/>
                </a:solidFill>
              </a:rPr>
              <a:t>DBH 量測不確定性 6.3%，符合 VM0047 §8.4 的 8% 門檻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研究成果：三大研究問題回答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結論 2／5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60020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EC85A"/>
                </a:solidFill>
              </a:rPr>
              <a:t>RQ1 ✅  量測精度達標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0"/>
                </a:solidFill>
              </a:rPr>
              <a:t>Path A 全樣本 MAE = 7.86 cm，MAPE = 12.5%（遠低於 25% 門檻）
Bootstrap 95% CI [8.1%, 16.9%]  |  Verra 不確定性比率 6.3% &lt; 8% 門檻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71800"/>
            <a:ext cx="11247120" cy="160020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4495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EC85A"/>
                </a:solidFill>
              </a:rPr>
              <a:t>RQ2 ✅  CF 自動演進有效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02152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0"/>
                </a:solidFill>
              </a:rPr>
              <a:t>LMM 固定效應 β₁ = +2.91 cm（p = 0.004），動態 CF 顯著優於靜態 CF
ICC = 0.000——動態機制在 14 個樹種均勻有效，無系統性盲點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846320"/>
            <a:ext cx="11247120" cy="160020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91947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EC85A"/>
                </a:solidFill>
              </a:rPr>
              <a:t>RQ3 ✅  不可竄改性確立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76672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5E0"/>
                </a:solidFill>
              </a:rPr>
              <a:t>Hyperledger Besu 上鏈成功率 100%
verify-blockchain.js 一致性比率 100%——不可竄改性確立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Hevner 七項設計科學準則全覆蓋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結論 3／5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810000" cy="667512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62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準則</a:t>
            </a:r>
          </a:p>
        </p:txBody>
      </p:sp>
      <p:sp>
        <p:nvSpPr>
          <p:cNvPr id="7" name="Rectangle 6"/>
          <p:cNvSpPr/>
          <p:nvPr/>
        </p:nvSpPr>
        <p:spPr>
          <a:xfrm>
            <a:off x="4175760" y="1143000"/>
            <a:ext cx="3810000" cy="667512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67200" y="1188720"/>
            <a:ext cx="362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內容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7985760" y="1143000"/>
            <a:ext cx="3810000" cy="667512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77200" y="1188720"/>
            <a:ext cx="362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EC85A"/>
                </a:solidFill>
              </a:rPr>
              <a:t>本研究對應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10512"/>
            <a:ext cx="3810000" cy="667512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56232"/>
            <a:ext cx="362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準則一：設計為人造物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75760" y="1810512"/>
            <a:ext cx="3810000" cy="667512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7200" y="1856232"/>
            <a:ext cx="362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系統本身是研究貢獻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85760" y="1810512"/>
            <a:ext cx="3810000" cy="667512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7200" y="1856232"/>
            <a:ext cx="362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植樹碳紀錄管理平台（三支柱）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478024"/>
            <a:ext cx="3810000" cy="667512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523744"/>
            <a:ext cx="362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準則二：問題相關性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75760" y="2478024"/>
            <a:ext cx="3810000" cy="667512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67200" y="2523744"/>
            <a:ext cx="362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解決真實世界問題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85760" y="2478024"/>
            <a:ext cx="3810000" cy="667512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7200" y="2523744"/>
            <a:ext cx="362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碎片化地主的量測障礙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145536"/>
            <a:ext cx="3810000" cy="667512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191256"/>
            <a:ext cx="362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準則三：設計評估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75760" y="3145536"/>
            <a:ext cx="3810000" cy="667512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67200" y="3191256"/>
            <a:ext cx="362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可量化的效益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5760" y="3145536"/>
            <a:ext cx="3810000" cy="667512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77200" y="3191256"/>
            <a:ext cx="362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MAPE 15.6%、通過率 74.2%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813048"/>
            <a:ext cx="3810000" cy="667512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858768"/>
            <a:ext cx="362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準則四：研究貢獻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75760" y="3813048"/>
            <a:ext cx="3810000" cy="667512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67200" y="3858768"/>
            <a:ext cx="362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貢獻新知識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85760" y="3813048"/>
            <a:ext cx="3810000" cy="667512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77200" y="3858768"/>
            <a:ext cx="362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動態 CF、LMM 驗證、VM0047 合規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480560"/>
            <a:ext cx="3810000" cy="667512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526280"/>
            <a:ext cx="362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準則五：研究嚴謹性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75760" y="4480560"/>
            <a:ext cx="3810000" cy="667512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67200" y="4526280"/>
            <a:ext cx="362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嚴謹的評估方法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85760" y="4480560"/>
            <a:ext cx="3810000" cy="667512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77200" y="4526280"/>
            <a:ext cx="362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Bootstrap、LMM、ICC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148072"/>
            <a:ext cx="3810000" cy="667512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193792"/>
            <a:ext cx="362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準則六：設計即探索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75760" y="5148072"/>
            <a:ext cx="3810000" cy="667512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67200" y="5193792"/>
            <a:ext cx="362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設計迭代改善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85760" y="5148072"/>
            <a:ext cx="3810000" cy="667512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93792"/>
            <a:ext cx="362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P1a→P4 五條流程迭代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815584"/>
            <a:ext cx="3810000" cy="667512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5861304"/>
            <a:ext cx="362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準則七：溝通研究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75760" y="5815584"/>
            <a:ext cx="3810000" cy="667512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67200" y="5861304"/>
            <a:ext cx="362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面向多種受眾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85760" y="5815584"/>
            <a:ext cx="3810000" cy="667512"/>
          </a:xfrm>
          <a:prstGeom prst="rect">
            <a:avLst/>
          </a:prstGeom>
          <a:solidFill>
            <a:srgbClr val="22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5861304"/>
            <a:ext cx="362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5E0"/>
                </a:solidFill>
              </a:rPr>
              <a:t>論文 + 開源 + 投稿 MDPI Forests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研究限制與未來方向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結論 4／5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C040"/>
                </a:solidFill>
              </a:rPr>
              <a:t>研究限制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F5E0"/>
                </a:solidFill>
              </a:rPr>
              <a:t>• 31 棵樣本、14 樹種，部分樹種代表棵數極少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F5E0"/>
                </a:solidFill>
              </a:rPr>
              <a:t>• ICC 的統計強度受小樣本制約，τ² 估計帶有不確定性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F5E0"/>
                </a:solidFill>
              </a:rPr>
              <a:t>• 地理範圍限於單一研究地點，跨地區適用性待驗證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43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EC85A"/>
                </a:solidFill>
              </a:rPr>
              <a:t>未來方向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F5E0"/>
                </a:solidFill>
              </a:rPr>
              <a:t>• 擴大樣本數，覆蓋更多樹種與地理條件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F5E0"/>
                </a:solidFill>
              </a:rPr>
              <a:t>• 探索更多影像前處理組合，進一步降低 MAPE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040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F5E0"/>
                </a:solidFill>
              </a:rPr>
              <a:t>• 部署至真實碳權專案，累積實地驗證數據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8F5E0"/>
                </a:solidFill>
              </a:rPr>
              <a:t>• 評估動態 CF 在資料稀少樹種的收斂速度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669280"/>
            <a:ext cx="11247120" cy="50292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72414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C040"/>
                </a:solidFill>
              </a:rPr>
              <a:t>研究限制是未來研究的起點，而非終點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EC85A"/>
                </a:solidFill>
              </a:rPr>
              <a:t>這份研究能帶來什麼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67512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878"/>
                </a:solidFill>
              </a:rPr>
              <a:t>結論 5／5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10881360" cy="1417320"/>
          </a:xfrm>
          <a:prstGeom prst="rect">
            <a:avLst/>
          </a:prstGeom>
          <a:solidFill>
            <a:srgbClr val="2E4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515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EC85A"/>
                </a:solidFill>
              </a:rPr>
              <a:t>讓一個只帶著手機走進森林的操作者，
也能產出符合國際碳權標準的量測記錄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10789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F5E0"/>
                </a:solidFill>
              </a:rPr>
              <a:t>• 降低碳盤查的技術門檻和成本，讓更多土地持有者有機會參與碳市場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10712"/>
            <a:ext cx="10789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F5E0"/>
                </a:solidFill>
              </a:rPr>
              <a:t>• 讓森林碳儲量的量測更可信、更普及、更頻繁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32504"/>
            <a:ext cx="10789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F5E0"/>
                </a:solidFill>
              </a:rPr>
              <a:t>• 區塊鏈存證確保量測記錄可信任，適合接軌國際碳權核發流程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54296"/>
            <a:ext cx="10789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F5E0"/>
                </a:solidFill>
              </a:rPr>
              <a:t>• 動態 CF 機制具備自我改善能力，長期使用下精度持續提升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76088"/>
            <a:ext cx="10789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E8F5E0"/>
                </a:solidFill>
              </a:rPr>
              <a:t>• 植樹造林記錄模組對應 SDG 15，支持永續林地管理政策目標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7EC85A"/>
                </a:solidFill>
              </a:rPr>
              <a:t>謝　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B8E09A"/>
                </a:solidFill>
              </a:rPr>
              <a:t>感謝指導教授與口試委員的寶貴建議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4663440"/>
            <a:ext cx="7589520" cy="73152"/>
          </a:xfrm>
          <a:prstGeom prst="rect">
            <a:avLst/>
          </a:prstGeom>
          <a:solidFill>
            <a:srgbClr val="88A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88A878"/>
                </a:solidFill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