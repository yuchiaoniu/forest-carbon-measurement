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7EC85A"/>
                </a:solidFill>
              </a:rPr>
              <a:t>基於智慧型手機與 AI 視覺辨識之
林木胸高直徑量測系統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8E09A"/>
                </a:solidFill>
              </a:rPr>
              <a:t>——動態修正因子機制與 Verra 碳權合規驗證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59893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8A878"/>
                </a:solidFill>
              </a:rPr>
              <a:t>指導教授：　　　　　　　　　研究生：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森林是氣候行動最重要的夥伴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研究動機 1／3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F5E0"/>
                </a:solidFill>
              </a:rPr>
              <a:t>• 全球碳中和目標需要可信、持續的碳儲量資料作為科學基礎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F5E0"/>
                </a:solidFill>
              </a:rPr>
              <a:t>• 森林覆蓋地球 30% 陸地面積，是最大的陸域碳匯之一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F5E0"/>
                </a:solidFill>
              </a:rPr>
              <a:t>• 要讓森林碳匯進入碳權市場，需符合國際標準的精確量測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F5E0"/>
                </a:solidFill>
              </a:rPr>
              <a:t>• 量測品質直接決定碳權的公信力與市場價值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577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0C040"/>
                </a:solidFill>
              </a:rPr>
              <a:t>💡  碳儲量數據是綠色金融的地基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三個技術條件同時成熟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研究動機 2／3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440680" cy="109728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26464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技術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5440680" cy="109728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26464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現況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68880"/>
            <a:ext cx="5440680" cy="109728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523744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📱  智慧型手機算力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2468880"/>
            <a:ext cx="5440680" cy="109728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2523744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全球普及率超過 80%，田野操作無需專業設備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66160"/>
            <a:ext cx="5440680" cy="10972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21024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👁  AI 視覺辨識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3566160"/>
            <a:ext cx="5440680" cy="10972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3621024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可從影片幀直接估算物體尺寸，無需接觸樹幹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3440"/>
            <a:ext cx="5440680" cy="109728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718304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🔗  區塊鏈存證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4663440"/>
            <a:ext cx="5440680" cy="109728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4718304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量測記錄不可竄改，可供第三方核查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577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0C040"/>
                </a:solidFill>
              </a:rPr>
              <a:t>三個條件各自成熟——整合的時機已經到來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研究切入點：把技術整合成一個田野工具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研究動機 3／3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F5E0"/>
                </a:solidFill>
              </a:rPr>
              <a:t>• 目標：讓一支手機就能完成符合 Verra VM0047 碳權標準的林木 DBH 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F5E0"/>
                </a:solidFill>
              </a:rPr>
              <a:t>• 核心挑戰：AI 估算有系統性低估偏差，如何自動校準？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F5E0"/>
                </a:solidFill>
              </a:rPr>
              <a:t>• 核心貢獻：動態自演進修正因子（CF）機制，讓系統隨每次量測自我改善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29200"/>
            <a:ext cx="10881360" cy="118872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B8E09A"/>
                </a:solidFill>
              </a:rPr>
              <a:t>願景：讓一個只帶著手機走進森林的操作者，也能產出符合國際碳權標準的量測記錄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系統整體流程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系統架構 1／4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234440"/>
            <a:ext cx="9966960" cy="5029200"/>
          </a:xfrm>
          <a:prstGeom prst="rect">
            <a:avLst/>
          </a:prstGeom>
          <a:solidFill>
            <a:srgbClr val="243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1325880"/>
            <a:ext cx="969264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F0C040"/>
                </a:solidFill>
                <a:latin typeface="Courier New"/>
              </a:rPr>
              <a:t>田野拍攝（手機影片）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↓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幀選取與影像前處理（CLAHE）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↓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三條路徑平行分析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Path 0：Gemini Vision OCR 讀取量尺刻度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Path A：自動辨識參照物 → 幾何比例換算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Path B：無參照物 → AI 直接估算 → 套用動態 CF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↓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最佳路徑輸出 DBH 估算值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↓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區塊鏈存證  →  碳儲量計算鏈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三條處理路徑的觸發邏輯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系統架構 2／4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749040" cy="128016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3502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路徑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280160"/>
            <a:ext cx="3749040" cy="128016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33502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觸發條件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280160"/>
            <a:ext cx="3749040" cy="128016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33502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主要技術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3749040" cy="12801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1518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Path 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560320"/>
            <a:ext cx="3749040" cy="12801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61518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操作者手動架設量尺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560320"/>
            <a:ext cx="3749040" cy="12801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261518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Gemini Vision OCR 讀取量尺刻度，群聚演算法取中位數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3749040" cy="12801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9534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Path 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840480"/>
            <a:ext cx="3749040" cy="12801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389534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畫面自動偵測到參照物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0" y="3840480"/>
            <a:ext cx="3749040" cy="12801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389534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幾何比例換算（量尺 / 信用卡）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20640"/>
            <a:ext cx="3749040" cy="12801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17550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Path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5120640"/>
            <a:ext cx="3749040" cy="12801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517550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無任何參照物（備援）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80" y="5120640"/>
            <a:ext cx="3749040" cy="12801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5175504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CLAHE 影像增強 + AI 直接估算 + 動態 CF 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577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40"/>
                </a:solidFill>
              </a:rPr>
              <a:t>三條路徑互補，確保各種田野條件都有對應方案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地面真值（Ground Truth）的建立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系統架構 3／4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F5E0"/>
                </a:solidFill>
              </a:rPr>
              <a:t>• 32 棵樣本樹，涵蓋 14 個樹種（分布極不均勻，部分樹種僅 1–2 棵）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F5E0"/>
                </a:solidFill>
              </a:rPr>
              <a:t>• 每棵樹以皮尺在胸高（1.3 m）直接量測 DBH——這是「正確答案」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F5E0"/>
                </a:solidFill>
              </a:rPr>
              <a:t>• 所有精度統計均以皮尺量測值為基準，計算：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F5E0"/>
                </a:solidFill>
              </a:rPr>
              <a:t>    • 絕對誤差（Absolute Error）= AI 估算值 − 皮尺真值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F5E0"/>
                </a:solidFill>
              </a:rPr>
              <a:t>    • 絕對百分比誤差（APE）= 絕對誤差 ÷ 皮尺真值 ×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F5E0"/>
                </a:solidFill>
              </a:rPr>
              <a:t>• 31 棵進入有效分析（第 32 棵 AI 辨識失敗，排除）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F5E0"/>
                </a:solidFill>
              </a:rPr>
              <a:t>• APE 是後續所有精度統計的原始材料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五種前處理流程比較設計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系統架構 4／4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同一批 31 棵有效樣本送進 P1a、P1b、P2、P3、P4 五種配置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不改變三條路徑的演算法，只改變幀選取方式與影像解析度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評估指標：MAPE（平均絕對百分比誤差）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目的：找出最佳前處理配置作為最終生產版本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31920"/>
            <a:ext cx="10881360" cy="18288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605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EC85A"/>
                </a:solidFill>
              </a:rPr>
              <a:t>結果：P4 達到最低 MAPE = 15.6%　→　確定為最終生產配置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09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B8E09A"/>
                </a:solidFill>
              </a:rPr>
              <a:t>通過率（APE ≤ 25%）= 74.2%（23 / 31 棵）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Path B 的核心問題：AI 為什麼系統性低估？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核心機制 1／5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AI 從影片幀估算 DBH，因缺乏絕對尺度參照，傾向系統性低估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不同樹種的低估程度不同（樟樹 vs 竹子的偏差方向都可能不同）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解法：修正因子（CF，Correction Factor）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    • 把 AI 輸出值乘以 CF 補償偏差：DBH 最終值 = AI 輸出 × CF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關鍵問題：CF 要設多少？一個固定值能適用所有樹種嗎？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846320"/>
            <a:ext cx="10881360" cy="13716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0C040"/>
                </a:solidFill>
              </a:rPr>
              <a:t>靜態固定 CF（所有樹種同一個數字）　vs　動態自演進 CF（各樹種獨立持續更新）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靜態 CF vs 動態 CF：兩個互斥的替代方案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核心機制 2／5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749040" cy="9144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350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280160"/>
            <a:ext cx="3749040" cy="9144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3350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靜態全域 CF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280160"/>
            <a:ext cx="3749040" cy="9144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3350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動態自演進 CF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3749040" cy="91440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494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數值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194560"/>
            <a:ext cx="3749040" cy="91440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494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所有樹種共用 ×1.10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194560"/>
            <a:ext cx="3749040" cy="91440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22494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各樹種獨立，最終加權平均 ≈ ×1.155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3749040" cy="91440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1638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來源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108960"/>
            <a:ext cx="3749040" cy="91440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31638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LOOCV 離線計算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0" y="3108960"/>
            <a:ext cx="3749040" cy="91440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31638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每次量測後自動重算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023360"/>
            <a:ext cx="3749040" cy="91440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0782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部署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4023360"/>
            <a:ext cx="3749040" cy="91440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40782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❌ 不進入生產系統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80" y="4023360"/>
            <a:ext cx="3749040" cy="91440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40782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✅ 生產系統實際使用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937760"/>
            <a:ext cx="3749040" cy="91440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9926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用途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4937760"/>
            <a:ext cx="3749040" cy="91440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49926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比較實驗的基準條件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80" y="4937760"/>
            <a:ext cx="3749040" cy="91440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4992624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真實校準機制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88A878"/>
                </a:solidFill>
              </a:rPr>
              <a:t>靜態 CF 是「比較用的假設條件」，不是競爭方案，也不與動態 CF 疊加使用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動態 CF 的運作邏輯：系統持續自我改善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核心機制 3／5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881360" cy="2560320"/>
          </a:xfrm>
          <a:prstGeom prst="rect">
            <a:avLst/>
          </a:prstGeom>
          <a:solidFill>
            <a:srgbClr val="243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6070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F0C040"/>
                </a:solidFill>
                <a:latin typeface="Courier New"/>
              </a:rPr>
              <a:t>Step 1：系統對第 i 棵樹估算 DBH</a:t>
            </a:r>
          </a:p>
          <a:p>
            <a:r>
              <a:rPr sz="1800">
                <a:solidFill>
                  <a:srgbClr val="F0C040"/>
                </a:solidFill>
                <a:latin typeface="Courier New"/>
              </a:rPr>
              <a:t>Step 2：操作者事後提供皮尺量測值（地面真值）</a:t>
            </a:r>
          </a:p>
          <a:p>
            <a:r>
              <a:rPr sz="1800">
                <a:solidFill>
                  <a:srgbClr val="F0C040"/>
                </a:solidFill>
                <a:latin typeface="Courier New"/>
              </a:rPr>
              <a:t>Step 3：計算這棵樹的 CF = 皮尺值 ÷ AI 估算值</a:t>
            </a:r>
          </a:p>
          <a:p>
            <a:r>
              <a:rPr sz="1800">
                <a:solidFill>
                  <a:srgbClr val="F0C040"/>
                </a:solidFill>
                <a:latin typeface="Courier New"/>
              </a:rPr>
              <a:t>Step 4：更新該樹種的 CF 加權平均</a:t>
            </a:r>
          </a:p>
          <a:p>
            <a:r>
              <a:rPr sz="1800">
                <a:solidFill>
                  <a:srgbClr val="F0C040"/>
                </a:solidFill>
                <a:latin typeface="Courier New"/>
              </a:rPr>
              <a:t>Step 5：下一棵同樹種的量測使用更新後的 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0C040"/>
                </a:solidFill>
              </a:rPr>
              <a:t>效果：資料越多，校準越精準——各樹種的偏差逐步趨近零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• 不同樹種各自維護獨立的 CF，不互相干擾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• 新樹種進入系統時，CF 從初始值開始學習，隨樣本累積快速收斂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LOOCV：建立靜態 CF 的客觀基準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核心機制 4／5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目的：為比較實驗提供客觀的靜態全域 CF 估計值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方法：Leave-One-Out Cross-Validation（逐一剔除交叉驗證）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51760"/>
            <a:ext cx="10881360" cy="2377440"/>
          </a:xfrm>
          <a:prstGeom prst="rect">
            <a:avLst/>
          </a:prstGeom>
          <a:solidFill>
            <a:srgbClr val="243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1060704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F0C040"/>
                </a:solidFill>
                <a:latin typeface="Courier New"/>
              </a:rPr>
              <a:t>重複 31 次：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剔除第 i 棵樹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用剩下 30 棵計算靜態 CF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把這個 CF 套回第 i 棵，記錄預測誤差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取 31 次的平均 → 靜態全域 CF ≈ ×1.10（排除離群值後）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88A878"/>
                </a:solidFill>
              </a:rPr>
              <a:t>⚠  這個數字只用於後續 LMM 比較實驗的輸入，不改變生產系統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CF 敏感度掃描：動態之後還需要疊加靜態補丁嗎？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核心機制 5／5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問題：動態 CF 跑完之後，如果再疊加一個全域靜態乘數，結果會更好嗎？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881360" cy="2926080"/>
          </a:xfrm>
          <a:prstGeom prst="rect">
            <a:avLst/>
          </a:prstGeom>
          <a:solidFill>
            <a:srgbClr val="243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06070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F0C040"/>
                </a:solidFill>
                <a:latin typeface="Courier New"/>
              </a:rPr>
              <a:t>計算結構：最終 DBH = AI 輸出 × 動態 CF × 額外靜態乘數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/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掃描範圍：×1.00 → ×1.20（步長 0.025）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評估指標：通過率（APE ≤ 25% 的棵數佔比）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/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結果：×1.00 時通過率最高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   → 不加任何靜態補丁是最好的選擇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257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0C040"/>
                </a:solidFill>
              </a:rPr>
              <a:t>動態 CF 已把偏差校準完畢，任何靜態補丁只會讓結果變差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精度評估的兩把尺：MAE 與 MAPE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精度驗證 1／5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94960" cy="22860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7EC85A"/>
                </a:solidFill>
              </a:rPr>
              <a:t>MAE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8E09A"/>
                </a:solidFill>
              </a:rPr>
              <a:t>Mean Absolute Error
平均絕對誤差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F5E0"/>
                </a:solidFill>
              </a:rPr>
              <a:t>• 單位：公分
• 直覺反映「平均差了幾公分」
• 與真實距離有直覺連結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5394960" cy="22860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17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C040"/>
                </a:solidFill>
              </a:rPr>
              <a:t>MAPE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8E09A"/>
                </a:solidFill>
              </a:rPr>
              <a:t>Mean Absolute Percentage Error
平均絕對百分比誤差（論文主要指標）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1460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F5E0"/>
                </a:solidFill>
              </a:rPr>
              <a:t>• 單位：百分比
• 讓不同體型的樹可以公平比較
• 20 cm 差 2 cm ≠ 80 cm 差 2 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0C040"/>
                </a:solidFill>
              </a:rPr>
              <a:t>MAPE 是論文主要精度指標，因為它排除了樹木體型差異的影響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243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7091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C040"/>
                </a:solidFill>
              </a:rPr>
              <a:t>MAE = Σ |AI估算 − 皮尺真值| ÷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470916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C040"/>
                </a:solidFill>
              </a:rPr>
              <a:t>MAPE = Σ (|AI估算 − 皮尺真值| ÷ 皮尺真值) ÷ n × 100%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P4 生產系統精度結果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精度驗證 2／5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718560" cy="118872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26464"/>
            <a:ext cx="353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指標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200" y="1371600"/>
            <a:ext cx="3718560" cy="118872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58640" y="1426464"/>
            <a:ext cx="353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數值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7985760" y="1371600"/>
            <a:ext cx="3718560" cy="118872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77200" y="1426464"/>
            <a:ext cx="353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說明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3718560" cy="118872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15184"/>
            <a:ext cx="353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MAPE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7200" y="2560320"/>
            <a:ext cx="3718560" cy="118872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8640" y="2615184"/>
            <a:ext cx="353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15.6%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5760" y="2560320"/>
            <a:ext cx="3718560" cy="118872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77200" y="2615184"/>
            <a:ext cx="353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五條流程中最低，確定為最終配置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49040"/>
            <a:ext cx="3718560" cy="118872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803904"/>
            <a:ext cx="353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通過率（APE ≤ 25%）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67200" y="3749040"/>
            <a:ext cx="3718560" cy="118872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8640" y="3803904"/>
            <a:ext cx="353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74.2%（23 / 31 棵）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85760" y="3749040"/>
            <a:ext cx="3718560" cy="118872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77200" y="3803904"/>
            <a:ext cx="353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符合 Hevner 準則三 &amp; Verra VM0047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297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0C040"/>
                </a:solidFill>
              </a:rPr>
              <a:t>P4 在 MAPE 與通過率兩個維度同時優於其他四種配置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377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8A878"/>
                </a:solidFill>
              </a:rPr>
              <a:t>通過率 25% 門檻：Hevner 準則三的實用效益門檻，同時符合 Verra VM0047 精度規範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Bootstrap 重採樣：精度數字有多可信？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精度驗證 3／5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問題：MAPE = 15.6% 只是這 31 棵樣本的結果，換一批樣本會差多少？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10881360" cy="3291840"/>
          </a:xfrm>
          <a:prstGeom prst="rect">
            <a:avLst/>
          </a:prstGeom>
          <a:solidFill>
            <a:srgbClr val="243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60704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0C040"/>
                </a:solidFill>
                <a:latin typeface="Courier New"/>
              </a:rPr>
              <a:t>做法（有放回抽樣，sampling with replacement）：</a:t>
            </a:r>
          </a:p>
          <a:p>
            <a:r>
              <a:rPr sz="1500">
                <a:solidFill>
                  <a:srgbClr val="F0C040"/>
                </a:solidFill>
                <a:latin typeface="Courier New"/>
              </a:rPr>
              <a:t/>
            </a:r>
          </a:p>
          <a:p>
            <a:r>
              <a:rPr sz="1500">
                <a:solidFill>
                  <a:srgbClr val="F0C040"/>
                </a:solidFill>
                <a:latin typeface="Courier New"/>
              </a:rPr>
              <a:t>  每次：從 31 棵有效樣本有放回地抽取 31 棵</a:t>
            </a:r>
          </a:p>
          <a:p>
            <a:r>
              <a:rPr sz="1500">
                <a:solidFill>
                  <a:srgbClr val="F0C040"/>
                </a:solidFill>
                <a:latin typeface="Courier New"/>
              </a:rPr>
              <a:t>         （同一棵可能出現 2–3 次，另一棵可能完全沒被抽到）</a:t>
            </a:r>
          </a:p>
          <a:p>
            <a:r>
              <a:rPr sz="1500">
                <a:solidFill>
                  <a:srgbClr val="F0C040"/>
                </a:solidFill>
                <a:latin typeface="Courier New"/>
              </a:rPr>
              <a:t>  計算這組樣本的 MAPE，記錄</a:t>
            </a:r>
          </a:p>
          <a:p>
            <a:r>
              <a:rPr sz="1500">
                <a:solidFill>
                  <a:srgbClr val="F0C040"/>
                </a:solidFill>
                <a:latin typeface="Courier New"/>
              </a:rPr>
              <a:t>  重複 10,000 次</a:t>
            </a:r>
          </a:p>
          <a:p>
            <a:r>
              <a:rPr sz="1500">
                <a:solidFill>
                  <a:srgbClr val="F0C040"/>
                </a:solidFill>
                <a:latin typeface="Courier New"/>
              </a:rPr>
              <a:t/>
            </a:r>
          </a:p>
          <a:p>
            <a:r>
              <a:rPr sz="1500">
                <a:solidFill>
                  <a:srgbClr val="F0C040"/>
                </a:solidFill>
                <a:latin typeface="Courier New"/>
              </a:rPr>
              <a:t>  10,000 個 MAPE 值排序後：</a:t>
            </a:r>
          </a:p>
          <a:p>
            <a:r>
              <a:rPr sz="1500">
                <a:solidFill>
                  <a:srgbClr val="F0C040"/>
                </a:solidFill>
                <a:latin typeface="Courier New"/>
              </a:rPr>
              <a:t>    第 250 個（第 2.5 百分位）  → Bootstrap 95% CI 下界</a:t>
            </a:r>
          </a:p>
          <a:p>
            <a:r>
              <a:rPr sz="1500">
                <a:solidFill>
                  <a:srgbClr val="F0C040"/>
                </a:solidFill>
                <a:latin typeface="Courier New"/>
              </a:rPr>
              <a:t>    第 9,750 個（第 97.5 百分位）→ Bootstrap 95% CI 上界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0C040"/>
                </a:solidFill>
              </a:rPr>
              <a:t>95% CI 意義：重複 100 次田野量測，約 95 次的 MAPE 落在這個區間內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通過率、Hevner 準則三 與 Verra 門檻的關係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精度驗證 4／5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7EC85A"/>
                </a:solidFill>
              </a:rPr>
              <a:t>通過率（Pass Rate）= APE ≤ 25% 的棵數佔比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5577840" cy="105156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20824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框架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965960"/>
            <a:ext cx="5577840" cy="105156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020824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25% 門檻的意義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17520"/>
            <a:ext cx="5577840" cy="10515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Hevner 系統設計準則三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017520"/>
            <a:ext cx="5577840" cy="10515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072384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系統必須提供可評估的實用效益，APE ≤ 25% 視為可接受精度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69080"/>
            <a:ext cx="5577840" cy="10515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23944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Verra VM0047 規範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069080"/>
            <a:ext cx="5577840" cy="10515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4123944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量測精度要求，APE ≤ 25% 是田野量測的合格標準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0C040"/>
                </a:solidFill>
              </a:rPr>
              <a:t>兩個框架共用同一個門檻，一次驗證同時滿足學術設計準則與碳權法規要求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166360"/>
            <a:ext cx="10881360" cy="109728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EC85A"/>
                </a:solidFill>
              </a:rPr>
              <a:t>P4 通過率 = 74.2%（23 / 31 棵），遠超最低要求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五條前處理流程精度完整比較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精度驗證 5／5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811780" cy="7772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3502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3268980" y="1280160"/>
            <a:ext cx="2811780" cy="7772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0420" y="133502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MAPE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280160"/>
            <a:ext cx="2811780" cy="7772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33502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通過率（APE ≤ 25%）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2540" y="1280160"/>
            <a:ext cx="2811780" cy="7772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3980" y="133502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備註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1226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P1a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8980" y="205740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0420" y="211226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較高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205740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11226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較低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92540" y="205740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83980" y="211226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基礎配置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34640"/>
            <a:ext cx="2811780" cy="77724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88950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P1b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68980" y="2834640"/>
            <a:ext cx="2811780" cy="77724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0420" y="288950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略優於 P1a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2834640"/>
            <a:ext cx="2811780" cy="77724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88950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略優於 P1a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92540" y="2834640"/>
            <a:ext cx="2811780" cy="77724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83980" y="288950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調整幀選取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1188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66674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P2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68980" y="361188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60420" y="366674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中等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61188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366674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中等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92540" y="361188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83980" y="366674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提升解析度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389120"/>
            <a:ext cx="2811780" cy="77724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44398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P3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68980" y="4389120"/>
            <a:ext cx="2811780" cy="77724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60420" y="444398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中等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4389120"/>
            <a:ext cx="2811780" cy="77724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72200" y="444398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中等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92540" y="4389120"/>
            <a:ext cx="2811780" cy="77724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83980" y="444398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混合策略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16636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522122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P4  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68980" y="516636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60420" y="522122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15.6%  最低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80760" y="516636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2200" y="522122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74.2%  最高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92540" y="5166360"/>
            <a:ext cx="2811780" cy="77724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83980" y="5221224"/>
            <a:ext cx="26289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最終生產配置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71600" y="56235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8A878"/>
                </a:solidFill>
              </a:rPr>
              <a:t>P4 在 MAPE 與通過率兩個維度同時表現最佳，是合理的最終選擇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挑戰：14 個樹種分布不均，如何公平比較 CF 效果？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統計分析 1／5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31 棵樣本橫跨 14 個樹種，部分樹種只有 1–2 棵代表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直接比較「靜態 CF vs 動態 CF 的整體 MAPE」會被分布不均干擾：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    • 高估傾向的樹種若樣本多，整體均值就被拉偏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    • 無法判斷 MAPE 差異來自 CF 類型，還是樣本組成偶然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需要一個方法把「樹種先天差異」和「CF 類型的純效果」分離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846320"/>
            <a:ext cx="10881360" cy="13716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7EC85A"/>
                </a:solidFill>
              </a:rPr>
              <a:t>解法：線性混合模型（LMM，Linear Mixed Model）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LMM 的設計邏輯：分離樹種效應與 CF 效應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統計分析 2／5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881360" cy="1828800"/>
          </a:xfrm>
          <a:prstGeom prst="rect">
            <a:avLst/>
          </a:prstGeom>
          <a:solidFill>
            <a:srgbClr val="243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6070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F0C040"/>
                </a:solidFill>
                <a:latin typeface="Courier New"/>
              </a:rPr>
              <a:t>模型結構：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偏差 = 樹種基準線（隨機效應）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     + CF 類型效果（固定效應 β₁）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     + 個體隨機誤差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246120"/>
            <a:ext cx="3749040" cy="86868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0098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組件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3246120"/>
            <a:ext cx="3749040" cy="86868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330098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角色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0" y="3246120"/>
            <a:ext cx="3749040" cy="86868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30098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意義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114800"/>
            <a:ext cx="3749040" cy="86868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16966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隨機效應（Random Effect）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4114800"/>
            <a:ext cx="3749040" cy="86868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416966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樹種 → 各自有獨立截距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80" y="4114800"/>
            <a:ext cx="3749040" cy="86868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416966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吸收各樹種先天偏高或偏低的傾向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983480"/>
            <a:ext cx="3749040" cy="8686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03834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固定效應（Fixed Effect）β₁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4983480"/>
            <a:ext cx="3749040" cy="8686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503834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CF 類型（靜態 vs 動態）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80" y="4983480"/>
            <a:ext cx="3749040" cy="8686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503834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排除樹種後，改用靜態 CF 帶來的純偏差變化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852160"/>
            <a:ext cx="3749040" cy="86868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90702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求解方法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5852160"/>
            <a:ext cx="3749040" cy="86868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590702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REML（限制最大概似估計）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80" y="5852160"/>
            <a:ext cx="3749040" cy="86868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5907024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小樣本下對隨機效應變異數估計更不偏（優於 MLE）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8A878"/>
                </a:solidFill>
              </a:rPr>
              <a:t>工具：Python statsmodels MixedLM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LMM 結果：β₁ = +2.91 cm（p = 0.004）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統計分析 3／5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虛無假說（H₀）：改用靜態 CF 對偏差沒有影響，β₁ =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p = 0.004 代表：如果 H₀ 成立，隨機抽樣觀察到「β₁ ≥ +2.91 cm」的機率只有 0.4%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慣例顯著性門檻：p &lt; 0.05，p = 0.004 遠低於門檻，H₀ 被拒絕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18288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8A878"/>
                </a:solidFill>
              </a:rPr>
              <a:t>白話：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B8E09A"/>
                </a:solidFill>
              </a:rPr>
              <a:t>統計上幾乎可以確定，改用靜態 CF 讓偏差顯著增加了將近 3 公分
這不是隨機誤差，是真實的系統性惡化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ICC = 0.000：動態機制在各樹種均勻有效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統計分析 4／5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881360" cy="2103120"/>
          </a:xfrm>
          <a:prstGeom prst="rect">
            <a:avLst/>
          </a:prstGeom>
          <a:solidFill>
            <a:srgbClr val="243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6070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0C040"/>
                </a:solidFill>
                <a:latin typeface="Courier New"/>
              </a:rPr>
              <a:t>ICC = τ²（組間變異數）/ （τ² + σ²（組內殘差變異數））</a:t>
            </a:r>
          </a:p>
          <a:p>
            <a:r>
              <a:rPr sz="1600">
                <a:solidFill>
                  <a:srgbClr val="F0C040"/>
                </a:solidFill>
                <a:latin typeface="Courier New"/>
              </a:rPr>
              <a:t/>
            </a:r>
          </a:p>
          <a:p>
            <a:r>
              <a:rPr sz="1600">
                <a:solidFill>
                  <a:srgbClr val="F0C040"/>
                </a:solidFill>
                <a:latin typeface="Courier New"/>
              </a:rPr>
              <a:t>ICC → 1：樹種仍有系統性規律（某樹種高估 / 某樹種低估）</a:t>
            </a:r>
          </a:p>
          <a:p>
            <a:r>
              <a:rPr sz="1600">
                <a:solidFill>
                  <a:srgbClr val="F0C040"/>
                </a:solidFill>
                <a:latin typeface="Courier New"/>
              </a:rPr>
              <a:t>ICC → 0：樹種分組解釋不了任何誤差，各樹種殘差結構相同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520440"/>
            <a:ext cx="10881360" cy="109728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7EC85A"/>
                </a:solidFill>
              </a:rPr>
              <a:t>結果：ICC = 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7899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F5E0"/>
                </a:solidFill>
              </a:rPr>
              <a:t>• 動態 CF 已把每個樹種的偏差分別校準到接近零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30368"/>
            <a:ext cx="107899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F5E0"/>
                </a:solidFill>
              </a:rPr>
              <a:t>• 剩下的誤差是每棵樹各自的個體隨機波動，不再有樹種層面的系統性規律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05856"/>
            <a:ext cx="107899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F5E0"/>
                </a:solidFill>
              </a:rPr>
              <a:t>• ⚠  小樣本限制：31 棵分散 14 樹種，REML 在組內樣本極少時 τ² 本來就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81344"/>
            <a:ext cx="107899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F5E0"/>
                </a:solidFill>
              </a:rPr>
              <a:t>•   容易趨近零；ICC = 0 的解讀需保持審慎，不宜過度推論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統計論證鏈一覽：五個結果串成一條論證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統計分析 5／5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810000" cy="82296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930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統計工具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4175760" y="1234440"/>
            <a:ext cx="3810000" cy="82296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7200" y="128930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回答的問題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985760" y="1234440"/>
            <a:ext cx="3810000" cy="82296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77200" y="128930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EC85A"/>
                </a:solidFill>
              </a:rPr>
              <a:t>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57400"/>
            <a:ext cx="3810000" cy="8229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1226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Bootstrap 95% 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75760" y="2057400"/>
            <a:ext cx="3810000" cy="8229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200" y="211226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精度數字穩健嗎？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5760" y="2057400"/>
            <a:ext cx="3810000" cy="8229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77200" y="211226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✅  是（10,000 次重採樣確認）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880360"/>
            <a:ext cx="3810000" cy="8229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93522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LOOCV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75760" y="2880360"/>
            <a:ext cx="3810000" cy="8229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200" y="293522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靜態 CF 基準值是多少？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85760" y="2880360"/>
            <a:ext cx="3810000" cy="8229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77200" y="293522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×1.10（離線估算，僅用於比較）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703320"/>
            <a:ext cx="3810000" cy="8229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75818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CF 敏感度掃描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75760" y="3703320"/>
            <a:ext cx="3810000" cy="8229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7200" y="375818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動態後還需要疊加靜態補丁嗎？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85760" y="3703320"/>
            <a:ext cx="3810000" cy="8229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77200" y="375818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❌  不需要（最優額外乘數 = ×1.00）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526280"/>
            <a:ext cx="3810000" cy="8229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58114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LMM（β₁，p 值）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75760" y="4526280"/>
            <a:ext cx="3810000" cy="8229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7200" y="458114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靜態取代動態會差多少？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85760" y="4526280"/>
            <a:ext cx="3810000" cy="8229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7200" y="458114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差 +2.91 cm（p = 0.004），顯著惡化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349240"/>
            <a:ext cx="3810000" cy="8229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40410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ICC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75760" y="5349240"/>
            <a:ext cx="3810000" cy="8229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67200" y="540410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動態機制各樹種均勻有效嗎？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85760" y="5349240"/>
            <a:ext cx="3810000" cy="822960"/>
          </a:xfrm>
          <a:prstGeom prst="rect">
            <a:avLst/>
          </a:prstGeom>
          <a:solidFill>
            <a:srgbClr val="223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77200" y="5404104"/>
            <a:ext cx="362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0"/>
                </a:solidFill>
              </a:rPr>
              <a:t>✅  是（ICC = 0.000，但受小樣本制約）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40"/>
                </a:solidFill>
              </a:rPr>
              <a:t>五個結果共同支撐：動態自演進 CF 不需靜態補丁，也不應被靜態值取代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Verra VM0047 §8.4 合規驗算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Verra 合規 1／3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F5E0"/>
                </a:solidFill>
              </a:rPr>
              <a:t>• Verra 規定以 90% CI（有別於學術慣例 95% CI）計算量測不確定性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F5E0"/>
                </a:solidFill>
              </a:rPr>
              <a:t>• 兩者信賴水準不同：95% CI 用於學術精度報告；90% CI 是法規規定，各有出處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06040"/>
            <a:ext cx="10881360" cy="2606040"/>
          </a:xfrm>
          <a:prstGeom prst="rect">
            <a:avLst/>
          </a:prstGeom>
          <a:solidFill>
            <a:srgbClr val="243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060704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F0C040"/>
                </a:solidFill>
                <a:latin typeface="Courier New"/>
              </a:rPr>
              <a:t>Verra 計算邏輯（半寬佔均值比率）：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/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半寬 = （90% CI 上界 − 下界）÷ 2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比率 = 半寬 ÷ 均值 × 100%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/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門檻：比率 ≤ 8%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（量測不確定範圍必須控制在均值的 8% 以內）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349240"/>
            <a:ext cx="10881360" cy="9144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86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EC85A"/>
                </a:solidFill>
              </a:rPr>
              <a:t>DBH 層級：6.3%  &lt; 8% 門檻  ✅  通過（比門檻低約 27%）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區塊鏈存證：讓量測記錄不可竄改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Verra 合規 2／3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F5E0"/>
                </a:solidFill>
              </a:rPr>
              <a:t>• 每次田野量測完成後，資料雜湊值自動上鏈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F5E0"/>
                </a:solidFill>
              </a:rPr>
              <a:t>• 第三方查核員可驗證：任何一筆量測記錄是否被事後修改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F5E0"/>
                </a:solidFill>
              </a:rPr>
              <a:t>• 從量測 → 碳儲量計算 → 碳權核發，全鏈條可追溯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F5E0"/>
                </a:solidFill>
              </a:rPr>
              <a:t>• 不可竄改性是碳權市場公信力的技術基礎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23360"/>
            <a:ext cx="10881360" cy="2194560"/>
          </a:xfrm>
          <a:prstGeom prst="rect">
            <a:avLst/>
          </a:prstGeom>
          <a:solidFill>
            <a:srgbClr val="243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1060704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F0C040"/>
                </a:solidFill>
                <a:latin typeface="Courier New"/>
              </a:rPr>
              <a:t>存證流程：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量測資料（DBH、影片幀、時間戳）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  → SHA-256 雜湊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  → 上鏈（交易雜湊值）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  → 任何人可驗證原始資料未被修改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從田野到碳權的完整計算鏈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Verra 合規 3／3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234440"/>
            <a:ext cx="9418320" cy="5212080"/>
          </a:xfrm>
          <a:prstGeom prst="rect">
            <a:avLst/>
          </a:prstGeom>
          <a:solidFill>
            <a:srgbClr val="243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325880"/>
            <a:ext cx="91440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F0C040"/>
                </a:solidFill>
                <a:latin typeface="Courier New"/>
              </a:rPr>
              <a:t>DBH（皮尺 or AI 估算）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↓  材積公式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材積（Volume）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↓  × 木材密度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地上生物量（AGB，Above Ground Biomass）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↓  × 碳含量係數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碳儲量（Carbon Stock）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    ↓  區塊鏈存證（不可竄改）</a:t>
            </a:r>
          </a:p>
          <a:p>
            <a:r>
              <a:rPr sz="1700">
                <a:solidFill>
                  <a:srgbClr val="F0C040"/>
                </a:solidFill>
                <a:latin typeface="Courier New"/>
              </a:rPr>
              <a:t>碳權申請（Verra VM0047 合規）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研究的三項核心貢獻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結論 1／4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13716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7EC85A"/>
                </a:solidFill>
              </a:rPr>
              <a:t>①  動態自演進 CF 機制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系統隨每次田野量測自動校準，無需人工設定固定值，適應不同樹種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88920"/>
            <a:ext cx="11247120" cy="13716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7EC85A"/>
                </a:solidFill>
              </a:rPr>
              <a:t>②  多樹種均勻有效（ICC = 0.000）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14 個樹種之間沒有任何系統性盲點，動態機制適用所有受測樹種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43400"/>
            <a:ext cx="11247120" cy="13716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7EC85A"/>
                </a:solidFill>
              </a:rPr>
              <a:t>③  通過 Verra 國際碳權標準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920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DBH 量測不確定性 6.3%，符合 VM0047 §8.4 的 8% 門檻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研究限制與未來方向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結論 2／4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0C040"/>
                </a:solidFill>
              </a:rPr>
              <a:t>研究限制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• 31 棵樣本、14 樹種，部分樹種代表棵數極少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• ICC 的統計強度受小樣本制約，τ² 估計帶有不確定性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• 地理範圍限於單一研究地點，跨地區適用性待驗證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7EC85A"/>
                </a:solidFill>
              </a:rPr>
              <a:t>未來方向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• 擴大樣本數，覆蓋更多樹種與地理條件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• 探索更多影像前處理組合，進一步降低 MAPE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9718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• 部署至真實碳權專案，累積實地驗證數據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661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F5E0"/>
                </a:solidFill>
              </a:rPr>
              <a:t>• 評估動態 CF 在資料稀少樹種的收斂速度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EC85A"/>
                </a:solidFill>
              </a:rPr>
              <a:t>這份研究能帶來什麼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878"/>
                </a:solidFill>
              </a:rPr>
              <a:t>結論 3／4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881360" cy="13716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7EC85A"/>
                </a:solidFill>
              </a:rPr>
              <a:t>讓一個只帶著手機走進森林的操作者，
也能產出符合國際碳權標準的量測記錄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降低碳盤查的技術門檻和成本，讓更多土地持有者有機會參與碳市場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讓森林碳儲量的量測更可信、更普及、更頻繁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區塊鏈存證確保量測記錄可信任，適合接軌國際碳權核發流程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5E0"/>
                </a:solidFill>
              </a:rPr>
              <a:t>• 動態 CF 機制具備自我改善能力，長期使用下精度持續提升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7EC85A"/>
                </a:solidFill>
              </a:rPr>
              <a:t>謝　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1">
                <a:solidFill>
                  <a:srgbClr val="B8E09A"/>
                </a:solidFill>
              </a:rPr>
              <a:t>感謝指導教授與口試委員的寶貴建議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4663440"/>
            <a:ext cx="7589520" cy="73152"/>
          </a:xfrm>
          <a:prstGeom prst="rect">
            <a:avLst/>
          </a:prstGeom>
          <a:solidFill>
            <a:srgbClr val="88A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88A878"/>
                </a:solidFill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